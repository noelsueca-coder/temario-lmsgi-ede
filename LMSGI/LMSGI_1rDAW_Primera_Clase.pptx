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949440" y="914400"/>
            <a:ext cx="5486400" cy="5029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26000" b="1" i="0">
                <a:solidFill>
                  <a:srgbClr val="1E293B"/>
                </a:solidFill>
                <a:latin typeface="Courier New"/>
              </a:rPr>
              <a:t>&lt;/&gt;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2DD4BF"/>
                </a:solidFill>
                <a:latin typeface="Calibri"/>
              </a:rPr>
              <a:t>1R DAW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94A3B8"/>
                </a:solidFill>
                <a:latin typeface="Calibri"/>
              </a:rPr>
              <a:t>PRIMERA CLASE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96012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8FAFC"/>
                </a:solidFill>
                <a:latin typeface="Cambria"/>
              </a:rPr>
              <a:t>Llenguatges de Marques i</a:t>
            </a:r>
          </a:p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8FAFC"/>
                </a:solidFill>
                <a:latin typeface="Cambria"/>
              </a:rPr>
              <a:t>Sistemes de Gestió d'Informació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CBD5E1"/>
                </a:solidFill>
                <a:latin typeface="Calibri"/>
              </a:rPr>
              <a:t>Módulo 0373 · LMSGI · 100 horas · Curso 2026-2027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22960" y="5989320"/>
            <a:ext cx="10515600" cy="0"/>
          </a:xfrm>
          <a:prstGeom prst="line">
            <a:avLst/>
          </a:prstGeom>
          <a:ln w="12700">
            <a:solidFill>
              <a:srgbClr val="1E29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60" y="612648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Noel Marco Biendicho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612648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Calibri"/>
              </a:rPr>
              <a:t>0373 · LMSGI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22960" y="502920"/>
            <a:ext cx="502920" cy="50292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ourier New"/>
              </a:rPr>
              <a:t>&lt;/&gt;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5303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F766E"/>
                </a:solidFill>
                <a:latin typeface="Calibri"/>
              </a:rPr>
              <a:t>1R DAW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5156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E293B"/>
                </a:solidFill>
                <a:latin typeface="Cambria"/>
              </a:rPr>
              <a:t>¿Qué vamos a hacer este curso?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Presentación · Introducción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0373 · LMSGI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783080"/>
            <a:ext cx="10543032" cy="2286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2103120"/>
            <a:ext cx="9811511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64748B"/>
                </a:solidFill>
                <a:latin typeface="Calibri"/>
              </a:rPr>
              <a:t>LMSGI trabaja los lenguajes que estructuran la información en la Web: aprenderás a construir y validar documentos XML y HTML, a darles estilo con CSS, a manipularlos con JavaScript en el navegador, a convertirlos entre formatos y a guardarlos y consultarlos con bases de datos. Es la base de cualquier aplicación web que muestre o intercambie datos.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389120"/>
            <a:ext cx="3361943" cy="13716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4572000"/>
            <a:ext cx="2813303" cy="754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0F766E"/>
                </a:solidFill>
                <a:latin typeface="Cambria"/>
              </a:rPr>
              <a:t>100 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212079"/>
            <a:ext cx="2813303" cy="4800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4748B"/>
                </a:solidFill>
                <a:latin typeface="Calibri"/>
              </a:rPr>
              <a:t>de carga lectiva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13504" y="4389120"/>
            <a:ext cx="3361943" cy="13716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87823" y="4572000"/>
            <a:ext cx="2813303" cy="754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0F766E"/>
                </a:solidFill>
                <a:latin typeface="Cambria"/>
              </a:rP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7823" y="5212079"/>
            <a:ext cx="2813303" cy="4800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4748B"/>
                </a:solidFill>
                <a:latin typeface="Calibri"/>
              </a:rPr>
              <a:t>resultados de aprendizaje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4047" y="4389120"/>
            <a:ext cx="3361943" cy="13716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78367" y="4572000"/>
            <a:ext cx="2813303" cy="754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0F766E"/>
                </a:solidFill>
                <a:latin typeface="Cambria"/>
              </a:rPr>
              <a:t>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8367" y="5212079"/>
            <a:ext cx="2813303" cy="4800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4748B"/>
                </a:solidFill>
                <a:latin typeface="Calibri"/>
              </a:rPr>
              <a:t>unidades de programación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22960" y="502920"/>
            <a:ext cx="502920" cy="50292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ourier New"/>
              </a:rPr>
              <a:t>&lt;/&gt;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5303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F766E"/>
                </a:solidFill>
                <a:latin typeface="Calibri"/>
              </a:rPr>
              <a:t>1R DAW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5156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E293B"/>
                </a:solidFill>
                <a:latin typeface="Cambria"/>
              </a:rPr>
              <a:t>Lo que sabrás hacer (1/2)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Presentación · Resultados de aprendizaje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0373 · LMSGI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783080"/>
            <a:ext cx="5134355" cy="2093976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51560" y="2011680"/>
            <a:ext cx="457200" cy="45720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20116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0F172A"/>
                </a:solidFill>
                <a:latin typeface="Cambria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606040"/>
            <a:ext cx="4677155" cy="11338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CBD5E1"/>
                </a:solidFill>
                <a:latin typeface="Calibri"/>
              </a:rPr>
              <a:t>Reconocerás las características de los lenguajes de marcas leyendo e interpretando código.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1636" y="1783080"/>
            <a:ext cx="5134355" cy="2093976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60236" y="2011680"/>
            <a:ext cx="457200" cy="45720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60236" y="20116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0F172A"/>
                </a:solidFill>
                <a:latin typeface="Cambr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0236" y="2606040"/>
            <a:ext cx="4677155" cy="11338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CBD5E1"/>
                </a:solidFill>
                <a:latin typeface="Calibri"/>
              </a:rPr>
              <a:t>Usarás lenguajes de marcas para transmitir y presentar información en la Web: HTML, hojas de estilo y sindicación de contenidos.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151376"/>
            <a:ext cx="5134355" cy="2093976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51560" y="4379976"/>
            <a:ext cx="457200" cy="45720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51560" y="437997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0F172A"/>
                </a:solidFill>
                <a:latin typeface="Cambri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974336"/>
            <a:ext cx="4677155" cy="11338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CBD5E1"/>
                </a:solidFill>
                <a:latin typeface="Calibri"/>
              </a:rPr>
              <a:t>Accederás y manipularás documentos web con JavaScript, el lenguaje de script del navegador.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1636" y="4151376"/>
            <a:ext cx="5134355" cy="2093976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460236" y="4379976"/>
            <a:ext cx="457200" cy="45720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60236" y="437997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0F172A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0236" y="4974336"/>
            <a:ext cx="4677155" cy="11338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CBD5E1"/>
                </a:solidFill>
                <a:latin typeface="Calibri"/>
              </a:rPr>
              <a:t>Validarás documentos para el intercambio de información definiendo su sintaxis y estructura.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22960" y="502920"/>
            <a:ext cx="502920" cy="50292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ourier New"/>
              </a:rPr>
              <a:t>&lt;/&gt;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5303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F766E"/>
                </a:solidFill>
                <a:latin typeface="Calibri"/>
              </a:rPr>
              <a:t>1R DAW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5156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E293B"/>
                </a:solidFill>
                <a:latin typeface="Cambria"/>
              </a:rPr>
              <a:t>Lo que sabrás hacer (2/2)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Presentación · Resultados de aprendizaje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0373 · LMSGI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783080"/>
            <a:ext cx="3331464" cy="4462272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51560" y="2011680"/>
            <a:ext cx="457200" cy="45720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20116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0F172A"/>
                </a:solidFill>
                <a:latin typeface="Cambria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606040"/>
            <a:ext cx="2874264" cy="3502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CBD5E1"/>
                </a:solidFill>
                <a:latin typeface="Calibri"/>
              </a:rPr>
              <a:t>Convertirás documentos entre formatos para el intercambio de información.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28744" y="1783080"/>
            <a:ext cx="3331464" cy="4462272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657344" y="2011680"/>
            <a:ext cx="457200" cy="45720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57344" y="20116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0F172A"/>
                </a:solidFill>
                <a:latin typeface="Cambria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7344" y="2606040"/>
            <a:ext cx="2874264" cy="3502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CBD5E1"/>
                </a:solidFill>
                <a:latin typeface="Calibri"/>
              </a:rPr>
              <a:t>Gestionarás información en formatos de intercambio de datos (XML, JSON...) con bases de datos.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34527" y="1783080"/>
            <a:ext cx="3331464" cy="4462272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263127" y="2011680"/>
            <a:ext cx="457200" cy="45720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63127" y="20116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0F172A"/>
                </a:solidFill>
                <a:latin typeface="Cambria"/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3127" y="2606040"/>
            <a:ext cx="2874264" cy="3502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CBD5E1"/>
                </a:solidFill>
                <a:latin typeface="Calibri"/>
              </a:rPr>
              <a:t>Operarás sistemas empresariales de gestión de información. (Este resultado se trabaja en la empresa, en la FCT.)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22960" y="502920"/>
            <a:ext cx="502920" cy="50292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ourier New"/>
              </a:rPr>
              <a:t>&lt;/&gt;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5303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F766E"/>
                </a:solidFill>
                <a:latin typeface="Calibri"/>
              </a:rPr>
              <a:t>1R DAW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5156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E293B"/>
                </a:solidFill>
                <a:latin typeface="Cambria"/>
              </a:rPr>
              <a:t>Cómo se organiza el curso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Presentación · Temporización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0373 · LMSGI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22960" y="1783080"/>
          <a:ext cx="10543032" cy="3685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597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8FAFC"/>
                          </a:solidFill>
                          <a:latin typeface="Calibri"/>
                        </a:rPr>
                        <a:t>UP</a:t>
                      </a:r>
                    </a:p>
                  </a:txBody>
                  <a:tcPr marL="73152" marR="73152" marT="36576" marB="36576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8FAFC"/>
                          </a:solidFill>
                          <a:latin typeface="Calibri"/>
                        </a:rPr>
                        <a:t>Eval.</a:t>
                      </a:r>
                    </a:p>
                  </a:txBody>
                  <a:tcPr marL="73152" marR="73152" marT="36576" marB="36576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8FAFC"/>
                          </a:solidFill>
                          <a:latin typeface="Calibri"/>
                        </a:rPr>
                        <a:t>Unidad de programación</a:t>
                      </a:r>
                    </a:p>
                  </a:txBody>
                  <a:tcPr marL="73152" marR="73152" marT="36576" marB="36576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8FAFC"/>
                          </a:solidFill>
                          <a:latin typeface="Calibri"/>
                        </a:rPr>
                        <a:t>Horas</a:t>
                      </a:r>
                    </a:p>
                  </a:txBody>
                  <a:tcPr marL="73152" marR="73152" marT="36576" marB="36576"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UP1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1ª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Introducción a los lenguajes de marcas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12 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UP2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1ª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Utilización de lenguajes de marcas en la Web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6 h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UP3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1ª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Formularios avanzados y validación en HTML5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6 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UP4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1ª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Hojas de estilo. Selectores. Pseudoclases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6 h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UP5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2ª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Hojas de estilo II: CSS avanzado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18 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UP6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2ª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Manipulación de documentos web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12 h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UP7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2ª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Validación de documentos y otros lenguajes de marcas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6 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UP8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3ª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Definición de esquemas y vocabularios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12 h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UP9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3ª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Conversión y adaptación de documentos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6 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UP10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3ª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Almacenamiento de información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6 h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UP11</a:t>
                      </a:r>
                    </a:p>
                  </a:txBody>
                  <a:tcPr marL="73152" marR="73152" marT="36576" marB="36576" anchor="ctr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3ª</a:t>
                      </a:r>
                    </a:p>
                  </a:txBody>
                  <a:tcPr marL="73152" marR="73152" marT="36576" marB="36576" anchor="ctr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Sistemas de gestión empresarial (FCT)</a:t>
                      </a:r>
                    </a:p>
                  </a:txBody>
                  <a:tcPr marL="73152" marR="73152" marT="36576" marB="36576" anchor="ctr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10 h</a:t>
                      </a:r>
                    </a:p>
                  </a:txBody>
                  <a:tcPr marL="73152" marR="73152" marT="36576" marB="36576" anchor="ctr">
                    <a:solidFill>
                      <a:srgbClr val="FEF3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0" name="Oval 9"/>
          <p:cNvSpPr/>
          <p:nvPr/>
        </p:nvSpPr>
        <p:spPr>
          <a:xfrm>
            <a:off x="822960" y="5669280"/>
            <a:ext cx="128016" cy="128016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78992" y="5650992"/>
            <a:ext cx="10287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Calibri"/>
              </a:rPr>
              <a:t>En ámbar: unidad que se trabaja en la empresa (FCT), no en el aula.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016752"/>
            <a:ext cx="1054303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Calibri"/>
              </a:rPr>
              <a:t>Total del curso: 100 horas repartidas en 3 evaluaciones.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22960" y="502920"/>
            <a:ext cx="502920" cy="50292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ourier New"/>
              </a:rPr>
              <a:t>&lt;/&gt;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5303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F766E"/>
                </a:solidFill>
                <a:latin typeface="Calibri"/>
              </a:rPr>
              <a:t>1R DAW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5156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E293B"/>
                </a:solidFill>
                <a:latin typeface="Cambria"/>
              </a:rPr>
              <a:t>Cómo se evalúa este módulo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Presentación · Evaluación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0373 · LMSGI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783080"/>
            <a:ext cx="5134355" cy="128016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1965960"/>
            <a:ext cx="4585716" cy="7040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0F766E"/>
                </a:solidFill>
                <a:latin typeface="Cambria"/>
              </a:rPr>
              <a:t>60%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551176"/>
            <a:ext cx="4585716" cy="448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4748B"/>
                </a:solidFill>
                <a:latin typeface="Calibri"/>
              </a:rPr>
              <a:t>Exámenes teórico-prácticos</a:t>
            </a:r>
          </a:p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4748B"/>
                </a:solidFill>
                <a:latin typeface="Calibri"/>
              </a:rPr>
              <a:t>(media si hay más de uno por evaluación)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1636" y="1783080"/>
            <a:ext cx="5134355" cy="128016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05955" y="1965960"/>
            <a:ext cx="4585716" cy="7040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0F766E"/>
                </a:solidFill>
                <a:latin typeface="Cambria"/>
              </a:rPr>
              <a:t>40%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5955" y="2551176"/>
            <a:ext cx="4585716" cy="448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4748B"/>
                </a:solidFill>
                <a:latin typeface="Calibri"/>
              </a:rPr>
              <a:t>Ejercicios y prácticas de entrega obligatoria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246120"/>
            <a:ext cx="10543032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2960" y="3246120"/>
            <a:ext cx="82296" cy="9144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7280" y="3383279"/>
            <a:ext cx="99943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  <a:latin typeface="Calibri"/>
              </a:rPr>
              <a:t>ATENCIÓN A LA ASISTENCIA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703320"/>
            <a:ext cx="999439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4748B"/>
                </a:solidFill>
                <a:latin typeface="Calibri"/>
              </a:rPr>
              <a:t>Se pierde la evaluación continua con un 15% de faltas de asistencia. Además, hay que sacar mínimo un 45% en el examen y un 5 en cada práctica entregada.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297680"/>
            <a:ext cx="10543032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22960" y="4297680"/>
            <a:ext cx="82296" cy="9144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4434840"/>
            <a:ext cx="99943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F766E"/>
                </a:solidFill>
                <a:latin typeface="Calibri"/>
              </a:rPr>
              <a:t>¿Y SI SUSPENDO UNA EVALUACIÓN?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754880"/>
            <a:ext cx="999439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4748B"/>
                </a:solidFill>
                <a:latin typeface="Calibri"/>
              </a:rPr>
              <a:t>Programa de recuperación individual: boletín de ejercicios teórico-prácticos más una prueba objetiva sobre los contenidos.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349240"/>
            <a:ext cx="1054303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Nota final = media ponderada de las 3 evaluaciones, cada una con un 5 o más.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22960" y="502920"/>
            <a:ext cx="502920" cy="50292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ourier New"/>
              </a:rPr>
              <a:t>&lt;/&gt;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5303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F766E"/>
                </a:solidFill>
                <a:latin typeface="Calibri"/>
              </a:rPr>
              <a:t>1R DAW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5156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E293B"/>
                </a:solidFill>
                <a:latin typeface="Cambria"/>
              </a:rPr>
              <a:t>Qué vamos a necesitar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Presentación · Materiales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0373 · LMSGI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57400"/>
            <a:ext cx="3331464" cy="237744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24128" y="2258568"/>
            <a:ext cx="384048" cy="38404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24128" y="225856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&lt;/&gt;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770632"/>
            <a:ext cx="292912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Calibri"/>
              </a:rPr>
              <a:t>Navegadores web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3081528"/>
            <a:ext cx="2929128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4748B"/>
                </a:solidFill>
                <a:latin typeface="Calibri"/>
              </a:rPr>
              <a:t>Chrome, Firefox o Edge para probar los documentos que crees.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28744" y="2057400"/>
            <a:ext cx="3331464" cy="237744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629911" y="2258568"/>
            <a:ext cx="384048" cy="38404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29911" y="225856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{}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9911" y="2770632"/>
            <a:ext cx="292912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Calibri"/>
              </a:rPr>
              <a:t>Visual Studio Code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29911" y="3081528"/>
            <a:ext cx="2929128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4748B"/>
                </a:solidFill>
                <a:latin typeface="Calibri"/>
              </a:rPr>
              <a:t>Nuestro editor de código durante todo el curso.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34527" y="2057400"/>
            <a:ext cx="3331464" cy="237744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235695" y="2258568"/>
            <a:ext cx="384048" cy="38404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35695" y="225856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5695" y="2770632"/>
            <a:ext cx="292912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Calibri"/>
              </a:rPr>
              <a:t>XmlCopy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5695" y="3081528"/>
            <a:ext cx="2929128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4748B"/>
                </a:solidFill>
                <a:latin typeface="Calibri"/>
              </a:rPr>
              <a:t>Herramienta de validación y comparación de documentos XML.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949440" y="914400"/>
            <a:ext cx="5486400" cy="5029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26000" b="1" i="0">
                <a:solidFill>
                  <a:srgbClr val="1E293B"/>
                </a:solidFill>
                <a:latin typeface="Courier New"/>
              </a:rPr>
              <a:t>&lt;/&gt;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987552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8FAFC"/>
                </a:solidFill>
                <a:latin typeface="Cambria"/>
              </a:rPr>
              <a:t>Al terminar, sabrás construir, dar estilo y manipular documentos web fiables, validados y listos para intercambiar información.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63240"/>
            <a:ext cx="9875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2DD4BF"/>
                </a:solidFill>
                <a:latin typeface="Calibri"/>
              </a:rPr>
              <a:t>7 resultados de aprendizaje · 100 horas · 1r DAW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611880"/>
            <a:ext cx="7863840" cy="14173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377647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2DD4BF"/>
                </a:solidFill>
                <a:latin typeface="Calibri"/>
              </a:rPr>
              <a:t>PARA EMPEZAR BIEN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096512"/>
            <a:ext cx="7315200" cy="2068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s-ES" sz="1200" b="0" i="0" dirty="0">
                <a:solidFill>
                  <a:srgbClr val="CBD5E1"/>
                </a:solidFill>
                <a:latin typeface="Calibri"/>
              </a:rPr>
              <a:t>V</a:t>
            </a:r>
            <a:r>
              <a:rPr sz="1200" b="0" i="0" dirty="0" err="1">
                <a:solidFill>
                  <a:srgbClr val="CBD5E1"/>
                </a:solidFill>
                <a:latin typeface="Calibri"/>
              </a:rPr>
              <a:t>en</a:t>
            </a:r>
            <a:r>
              <a:rPr sz="1200" b="0" i="0" dirty="0">
                <a:solidFill>
                  <a:srgbClr val="CBD5E1"/>
                </a:solidFill>
                <a:latin typeface="Calibri"/>
              </a:rPr>
              <a:t> con </a:t>
            </a:r>
            <a:r>
              <a:rPr sz="1200" b="0" i="0" dirty="0" err="1">
                <a:solidFill>
                  <a:srgbClr val="CBD5E1"/>
                </a:solidFill>
                <a:latin typeface="Calibri"/>
              </a:rPr>
              <a:t>ganas</a:t>
            </a:r>
            <a:r>
              <a:rPr sz="1200" b="0" i="0" dirty="0">
                <a:solidFill>
                  <a:srgbClr val="CBD5E1"/>
                </a:solidFill>
                <a:latin typeface="Calibri"/>
              </a:rPr>
              <a:t> de </a:t>
            </a:r>
            <a:r>
              <a:rPr lang="es-ES" sz="1200" b="0" i="0" dirty="0">
                <a:solidFill>
                  <a:srgbClr val="CBD5E1"/>
                </a:solidFill>
                <a:latin typeface="Calibri"/>
              </a:rPr>
              <a:t>aprender y de </a:t>
            </a:r>
            <a:r>
              <a:rPr sz="1200" b="0" i="0" dirty="0" err="1">
                <a:solidFill>
                  <a:srgbClr val="CBD5E1"/>
                </a:solidFill>
                <a:latin typeface="Calibri"/>
              </a:rPr>
              <a:t>escribir</a:t>
            </a:r>
            <a:r>
              <a:rPr sz="1200" b="0" i="0" dirty="0">
                <a:solidFill>
                  <a:srgbClr val="CBD5E1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CBD5E1"/>
                </a:solidFill>
                <a:latin typeface="Calibri"/>
              </a:rPr>
              <a:t>mucho</a:t>
            </a:r>
            <a:r>
              <a:rPr sz="1200" b="0" i="0" dirty="0">
                <a:solidFill>
                  <a:srgbClr val="CBD5E1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CBD5E1"/>
                </a:solidFill>
                <a:latin typeface="Calibri"/>
              </a:rPr>
              <a:t>código</a:t>
            </a:r>
            <a:r>
              <a:rPr sz="1200" b="0" i="0" dirty="0">
                <a:solidFill>
                  <a:srgbClr val="CBD5E1"/>
                </a:solidFill>
                <a:latin typeface="Calibri"/>
              </a:rPr>
              <a:t> de </a:t>
            </a:r>
            <a:r>
              <a:rPr sz="1200" b="0" i="0" dirty="0" err="1">
                <a:solidFill>
                  <a:srgbClr val="CBD5E1"/>
                </a:solidFill>
                <a:latin typeface="Calibri"/>
              </a:rPr>
              <a:t>marcas</a:t>
            </a:r>
            <a:r>
              <a:rPr sz="1200" b="0" i="0" dirty="0">
                <a:solidFill>
                  <a:srgbClr val="CBD5E1"/>
                </a:solidFill>
                <a:latin typeface="Calibri"/>
              </a:rPr>
              <a:t> — </a:t>
            </a:r>
            <a:r>
              <a:rPr sz="1200" b="0" i="0" dirty="0" err="1">
                <a:solidFill>
                  <a:srgbClr val="CBD5E1"/>
                </a:solidFill>
                <a:latin typeface="Calibri"/>
              </a:rPr>
              <a:t>esto</a:t>
            </a:r>
            <a:r>
              <a:rPr sz="1200" b="0" i="0" dirty="0">
                <a:solidFill>
                  <a:srgbClr val="CBD5E1"/>
                </a:solidFill>
                <a:latin typeface="Calibri"/>
              </a:rPr>
              <a:t> se </a:t>
            </a:r>
            <a:r>
              <a:rPr sz="1200" b="0" i="0" dirty="0" err="1">
                <a:solidFill>
                  <a:srgbClr val="CBD5E1"/>
                </a:solidFill>
                <a:latin typeface="Calibri"/>
              </a:rPr>
              <a:t>aprende</a:t>
            </a:r>
            <a:r>
              <a:rPr sz="1200" b="0" i="0" dirty="0">
                <a:solidFill>
                  <a:srgbClr val="CBD5E1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CBD5E1"/>
                </a:solidFill>
                <a:latin typeface="Calibri"/>
              </a:rPr>
              <a:t>sobre</a:t>
            </a:r>
            <a:r>
              <a:rPr sz="1200" b="0" i="0" dirty="0">
                <a:solidFill>
                  <a:srgbClr val="CBD5E1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CBD5E1"/>
                </a:solidFill>
                <a:latin typeface="Calibri"/>
              </a:rPr>
              <a:t>todo</a:t>
            </a:r>
            <a:r>
              <a:rPr sz="1200" b="0" i="0" dirty="0">
                <a:solidFill>
                  <a:srgbClr val="CBD5E1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CBD5E1"/>
                </a:solidFill>
                <a:latin typeface="Calibri"/>
              </a:rPr>
              <a:t>practicando</a:t>
            </a:r>
            <a:r>
              <a:rPr sz="1200" b="0" i="0" dirty="0">
                <a:solidFill>
                  <a:srgbClr val="CBD5E1"/>
                </a:solidFill>
                <a:latin typeface="Calibri"/>
              </a:rPr>
              <a:t>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22960" y="6080760"/>
            <a:ext cx="10515600" cy="0"/>
          </a:xfrm>
          <a:prstGeom prst="line">
            <a:avLst/>
          </a:prstGeom>
          <a:ln w="12700">
            <a:solidFill>
              <a:srgbClr val="1E29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22960" y="62179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Noel Marco Biendicho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62179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Calibri"/>
              </a:rPr>
              <a:t>0373 · LMSGI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668</Words>
  <Application>Microsoft Office PowerPoint</Application>
  <PresentationFormat>Personalitzat</PresentationFormat>
  <Paragraphs>135</Paragraphs>
  <Slides>8</Slides>
  <Notes>0</Notes>
  <HiddenSlides>0</HiddenSlides>
  <MMClips>0</MMClips>
  <ScaleCrop>false</ScaleCrop>
  <HeadingPairs>
    <vt:vector size="6" baseType="variant">
      <vt:variant>
        <vt:lpstr>Tipus de lletra utilitzats</vt:lpstr>
      </vt:variant>
      <vt:variant>
        <vt:i4>4</vt:i4>
      </vt:variant>
      <vt:variant>
        <vt:lpstr>Tema</vt:lpstr>
      </vt:variant>
      <vt:variant>
        <vt:i4>1</vt:i4>
      </vt:variant>
      <vt:variant>
        <vt:lpstr>Títols de les diapositives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Cambria</vt:lpstr>
      <vt:lpstr>Courier New</vt:lpstr>
      <vt:lpstr>Office Theme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MARCO BIENDICHO, NOEL</cp:lastModifiedBy>
  <cp:revision>2</cp:revision>
  <dcterms:created xsi:type="dcterms:W3CDTF">2013-01-27T09:14:16Z</dcterms:created>
  <dcterms:modified xsi:type="dcterms:W3CDTF">2026-09-14T19:31:11Z</dcterms:modified>
  <cp:category/>
</cp:coreProperties>
</file>