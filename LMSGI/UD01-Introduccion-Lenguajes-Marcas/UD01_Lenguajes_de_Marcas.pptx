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778240" y="914400"/>
            <a:ext cx="365760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0" b="0" i="0">
                <a:solidFill>
                  <a:srgbClr val="1E293B"/>
                </a:solidFill>
                <a:latin typeface="Courier New"/>
              </a:rPr>
              <a:t>&lt;/&gt;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DD4BF"/>
                </a:solidFill>
                <a:latin typeface="Calibri"/>
              </a:rPr>
              <a:t>LMSGI · 1r ASIX / 1r DAW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65960"/>
            <a:ext cx="7315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64748B"/>
                </a:solidFill>
                <a:latin typeface="Cambria"/>
              </a:rPr>
              <a:t>UD01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14600"/>
            <a:ext cx="8686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4400" b="1" i="0">
                <a:solidFill>
                  <a:srgbClr val="F8FAFC"/>
                </a:solidFill>
                <a:latin typeface="Cambria"/>
              </a:rPr>
              <a:t>Introducción a los</a:t>
            </a:r>
          </a:p>
          <a:p>
            <a:pPr algn="l"/>
            <a:r>
              <a:rPr sz="4400" b="1" i="0">
                <a:solidFill>
                  <a:srgbClr val="F8FAFC"/>
                </a:solidFill>
                <a:latin typeface="Cambria"/>
              </a:rPr>
              <a:t>lenguajes de marcas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617720"/>
            <a:ext cx="917600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CBD5E1"/>
                </a:solidFill>
                <a:latin typeface="Calibri"/>
              </a:rPr>
              <a:t>RA1 · Reconoce las características de los lenguajes de marcas analizando e interpretando fragmentos de código  (CA 1a-1i)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179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IES Sant Vicent Ferrer — Algemesí · Noel Marco Biendicho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457200"/>
            <a:ext cx="502920" cy="502920"/>
          </a:xfrm>
          <a:prstGeom prst="roundRect">
            <a:avLst>
              <a:gd name="adj" fmla="val 28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ourier New"/>
              </a:rPr>
              <a:t>&lt;/&gt;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389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F766E"/>
                </a:solidFill>
                <a:latin typeface="Calibri"/>
              </a:rPr>
              <a:t>AL TERMINAR ESTA UNIDAD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E293B"/>
                </a:solidFill>
                <a:latin typeface="Cambria"/>
              </a:rPr>
              <a:t>Sabrás hacer esto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920240"/>
            <a:ext cx="3520440" cy="356616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731520" cy="731520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28600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1" i="0">
                <a:solidFill>
                  <a:srgbClr val="0F172A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154679"/>
            <a:ext cx="2880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E293B"/>
                </a:solidFill>
                <a:latin typeface="Cambria"/>
              </a:rPr>
              <a:t>Reconocer y clasificar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49039"/>
            <a:ext cx="288036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64748B"/>
                </a:solidFill>
                <a:latin typeface="Calibri"/>
              </a:rPr>
              <a:t>distinguir un lenguaje de marcas de un lenguaje de programación, y clasificarlo según su tipo o su función.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920240"/>
            <a:ext cx="3520440" cy="356616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17720" y="2286000"/>
            <a:ext cx="731520" cy="731520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228600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1" i="0">
                <a:solidFill>
                  <a:srgbClr val="0F172A"/>
                </a:solidFill>
                <a:latin typeface="Cambr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3154679"/>
            <a:ext cx="2880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E293B"/>
                </a:solidFill>
                <a:latin typeface="Cambria"/>
              </a:rPr>
              <a:t>Escribir XML correcto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3749039"/>
            <a:ext cx="288036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64748B"/>
                </a:solidFill>
                <a:latin typeface="Calibri"/>
              </a:rPr>
              <a:t>redactar un documento XML bien formado: estructura de árbol, etiquetas, atributos y anidamiento.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920240"/>
            <a:ext cx="3520440" cy="356616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458200" y="2286000"/>
            <a:ext cx="731520" cy="731520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58200" y="228600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1" i="0">
                <a:solidFill>
                  <a:srgbClr val="0F172A"/>
                </a:solidFill>
                <a:latin typeface="Cambri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3154679"/>
            <a:ext cx="2880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E293B"/>
                </a:solidFill>
                <a:latin typeface="Cambria"/>
              </a:rPr>
              <a:t>Resolver conflictos de nombres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3749039"/>
            <a:ext cx="288036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64748B"/>
                </a:solidFill>
                <a:latin typeface="Calibri"/>
              </a:rPr>
              <a:t>usar espacios de nombres para combinar vocabularios XML distintos sin que sus etiquetas choquen.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1 · Conceptos clave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UD01 · Lenguajes de Marcas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457200"/>
            <a:ext cx="502920" cy="502920"/>
          </a:xfrm>
          <a:prstGeom prst="roundRect">
            <a:avLst>
              <a:gd name="adj" fmla="val 28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ourier New"/>
              </a:rPr>
              <a:t>&lt;/&gt;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389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F766E"/>
                </a:solidFill>
                <a:latin typeface="Calibri"/>
              </a:rPr>
              <a:t>CA 1A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E293B"/>
                </a:solidFill>
                <a:latin typeface="Cambria"/>
              </a:rPr>
              <a:t>¿Qué es un lenguaje de marcas?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566928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 i="0">
                <a:solidFill>
                  <a:srgbClr val="1E293B"/>
                </a:solidFill>
                <a:latin typeface="Calibri"/>
              </a:rPr>
              <a:t>Sistema para dar formato o estructura a un texto</a:t>
            </a:r>
          </a:p>
          <a:p>
            <a:pPr algn="l"/>
            <a:r>
              <a:rPr sz="1550" b="0" i="0">
                <a:solidFill>
                  <a:srgbClr val="64748B"/>
                </a:solidFill>
                <a:latin typeface="Calibri"/>
              </a:rPr>
              <a:t>insertando señales especiales (marcas/etiquetas) dentro del propio texto — sin necesidad de un lenguaje de programación.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383280"/>
            <a:ext cx="566928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E293B"/>
                </a:solidFill>
                <a:latin typeface="Calibri"/>
              </a:rPr>
              <a:t>Del inglés marking up: marcar manuscritos para anotar la tipografía a usar en la imprenta.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E293B"/>
                </a:solidFill>
                <a:latin typeface="Calibri"/>
              </a:rPr>
              <a:t>Una marca se encierra entre &lt; y &gt;, y suele ir por parejas (apertura / cierre).</a:t>
            </a:r>
          </a:p>
          <a:p>
            <a:pPr algn="l"/>
            <a:r>
              <a:rPr sz="1400" b="1" i="0">
                <a:solidFill>
                  <a:srgbClr val="0F766E"/>
                </a:solidFill>
                <a:latin typeface="Calibri"/>
              </a:rPr>
              <a:t>Un programa —el user-agent— interpreta esas marcas. Cada uno decide qué hacer con ellas 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828800"/>
            <a:ext cx="5212080" cy="1463040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20840" y="2011680"/>
            <a:ext cx="47548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 i="0">
                <a:solidFill>
                  <a:srgbClr val="E2E8F0"/>
                </a:solidFill>
                <a:latin typeface="Courier New"/>
              </a:rPr>
              <a:t>&lt;h1&gt;Texto grande&lt;/h1&gt;</a:t>
            </a:r>
          </a:p>
          <a:p>
            <a:pPr algn="l"/>
            <a:r>
              <a:rPr sz="1600" b="0" i="0">
                <a:solidFill>
                  <a:srgbClr val="E2E8F0"/>
                </a:solidFill>
                <a:latin typeface="Courier New"/>
              </a:rPr>
              <a:t>&lt;h3&gt;Texto pequeño&lt;/h3&gt;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3657600"/>
            <a:ext cx="5212080" cy="219456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20840" y="3803904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F766E"/>
                </a:solidFill>
                <a:latin typeface="Calibri"/>
              </a:rPr>
              <a:t>💡  Los encabezados van de h1 a h6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0840" y="4187952"/>
            <a:ext cx="4754880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Seis niveles, sin más allá. No indican tamaño de letra sino jerarquía — el tamaño es solo el estilo que aplica el navegador por defecto; con CSS se cambia sin tocar la jerarquía.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2 · Concepto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UD01 · Lenguajes de Marcas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457200"/>
            <a:ext cx="502920" cy="502920"/>
          </a:xfrm>
          <a:prstGeom prst="roundRect">
            <a:avLst>
              <a:gd name="adj" fmla="val 28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ourier New"/>
              </a:rPr>
              <a:t>&lt;/&gt;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389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F766E"/>
                </a:solidFill>
                <a:latin typeface="Calibri"/>
              </a:rPr>
              <a:t>CA 1A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E293B"/>
                </a:solidFill>
                <a:latin typeface="Cambria"/>
              </a:rPr>
              <a:t>El user-agent: quién interpreta las marcas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920240"/>
            <a:ext cx="2148840" cy="292608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8720" y="2194560"/>
            <a:ext cx="685800" cy="685800"/>
          </a:xfrm>
          <a:prstGeom prst="ellipse">
            <a:avLst/>
          </a:prstGeom>
          <a:solidFill>
            <a:srgbClr val="F1F5F9"/>
          </a:solidFill>
          <a:ln w="1905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194560"/>
            <a:ext cx="685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0F766E"/>
                </a:solidFill>
                <a:latin typeface="Calibri"/>
              </a:rPr>
              <a:t>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063240"/>
            <a:ext cx="1874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1" i="0">
                <a:solidFill>
                  <a:srgbClr val="1E293B"/>
                </a:solidFill>
                <a:latin typeface="Cambria"/>
              </a:rPr>
              <a:t>Navegador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611880"/>
            <a:ext cx="17830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 i="0">
                <a:solidFill>
                  <a:srgbClr val="64748B"/>
                </a:solidFill>
                <a:latin typeface="Calibri"/>
              </a:rPr>
              <a:t>Convierte &lt;h1&gt;, &lt;table&gt;, &lt;img&gt; en texto renderizado, tablas e imágenes en pantalla.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0" y="1920240"/>
            <a:ext cx="2148840" cy="292608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474720" y="2194560"/>
            <a:ext cx="685800" cy="685800"/>
          </a:xfrm>
          <a:prstGeom prst="ellipse">
            <a:avLst/>
          </a:prstGeom>
          <a:solidFill>
            <a:srgbClr val="F1F5F9"/>
          </a:solidFill>
          <a:ln w="1905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0" y="2194560"/>
            <a:ext cx="685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0F766E"/>
                </a:solidFill>
                <a:latin typeface="Calibri"/>
              </a:rPr>
              <a:t>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360" y="3063240"/>
            <a:ext cx="1874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1" i="0">
                <a:solidFill>
                  <a:srgbClr val="1E293B"/>
                </a:solidFill>
                <a:latin typeface="Cambria"/>
              </a:rPr>
              <a:t>Editor de código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3611880"/>
            <a:ext cx="17830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 i="0">
                <a:solidFill>
                  <a:srgbClr val="64748B"/>
                </a:solidFill>
                <a:latin typeface="Calibri"/>
              </a:rPr>
              <a:t>Resalta sintaxis en colores, pliega bloques, o muestra una vista previa — como este documento.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0" y="1920240"/>
            <a:ext cx="2148840" cy="292608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760720" y="2194560"/>
            <a:ext cx="685800" cy="685800"/>
          </a:xfrm>
          <a:prstGeom prst="ellipse">
            <a:avLst/>
          </a:prstGeom>
          <a:solidFill>
            <a:srgbClr val="F1F5F9"/>
          </a:solidFill>
          <a:ln w="1905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60720" y="2194560"/>
            <a:ext cx="685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0F766E"/>
                </a:solidFill>
                <a:latin typeface="Calibri"/>
              </a:rPr>
              <a:t>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66360" y="3063240"/>
            <a:ext cx="1874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1" i="0">
                <a:solidFill>
                  <a:srgbClr val="1E293B"/>
                </a:solidFill>
                <a:latin typeface="Cambria"/>
              </a:rPr>
              <a:t>Lector de pantalla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0" y="3611880"/>
            <a:ext cx="17830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 i="0">
                <a:solidFill>
                  <a:srgbClr val="64748B"/>
                </a:solidFill>
                <a:latin typeface="Calibri"/>
              </a:rPr>
              <a:t>Anuncia por voz las marcas semánticas (&lt;nav&gt;, &lt;h2&gt;) a personas con discapacidad visual.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0" y="1920240"/>
            <a:ext cx="2148840" cy="292608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0" y="2194560"/>
            <a:ext cx="685800" cy="685800"/>
          </a:xfrm>
          <a:prstGeom prst="ellipse">
            <a:avLst/>
          </a:prstGeom>
          <a:solidFill>
            <a:srgbClr val="F1F5F9"/>
          </a:solidFill>
          <a:ln w="1905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0" y="2194560"/>
            <a:ext cx="685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0F766E"/>
                </a:solidFill>
                <a:latin typeface="Calibri"/>
              </a:rPr>
              <a:t>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2360" y="3063240"/>
            <a:ext cx="1874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1" i="0">
                <a:solidFill>
                  <a:srgbClr val="1E293B"/>
                </a:solidFill>
                <a:latin typeface="Cambria"/>
              </a:rPr>
              <a:t>Sintetizador de voz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79" y="3611880"/>
            <a:ext cx="17830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 i="0">
                <a:solidFill>
                  <a:srgbClr val="64748B"/>
                </a:solidFill>
                <a:latin typeface="Calibri"/>
              </a:rPr>
              <a:t>Interpreta marcas SSML (&lt;break/&gt;, &lt;emphasis&gt;) para dar entonación al convertir texto en audio.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601200" y="1920240"/>
            <a:ext cx="2148840" cy="292608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332720" y="2194560"/>
            <a:ext cx="685800" cy="685800"/>
          </a:xfrm>
          <a:prstGeom prst="ellipse">
            <a:avLst/>
          </a:prstGeom>
          <a:solidFill>
            <a:srgbClr val="F1F5F9"/>
          </a:solidFill>
          <a:ln w="1905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332720" y="2194560"/>
            <a:ext cx="685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0F766E"/>
                </a:solidFill>
                <a:latin typeface="Calibri"/>
              </a:rPr>
              <a:t>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38360" y="3063240"/>
            <a:ext cx="1874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1" i="0">
                <a:solidFill>
                  <a:srgbClr val="1E293B"/>
                </a:solidFill>
                <a:latin typeface="Cambria"/>
              </a:rPr>
              <a:t>Procesador de texto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84080" y="3611880"/>
            <a:ext cx="17830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 i="0">
                <a:solidFill>
                  <a:srgbClr val="64748B"/>
                </a:solidFill>
                <a:latin typeface="Calibri"/>
              </a:rPr>
              <a:t>Al abrir un .docx, interpreta el XML interno para mostrar negritas, estilos y tablas.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5074920"/>
            <a:ext cx="11292840" cy="118872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5221224"/>
            <a:ext cx="10835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D97706"/>
                </a:solidFill>
                <a:latin typeface="Calibri"/>
              </a:rPr>
              <a:t>⚠  LM ≠ Lenguaje de programación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5605272"/>
            <a:ext cx="108356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Un LM no tiene variables, bucles ni funciones — solo describe formato o estructura. Combinado con un LP (HTML + JavaScript), el documento se "programa", pero el HTML en sí no lo es.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2 · Concepto (user-agents)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UD01 · Lenguajes de Marcas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457200"/>
            <a:ext cx="502920" cy="502920"/>
          </a:xfrm>
          <a:prstGeom prst="roundRect">
            <a:avLst>
              <a:gd name="adj" fmla="val 28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ourier New"/>
              </a:rPr>
              <a:t>&lt;/&gt;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389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F766E"/>
                </a:solidFill>
                <a:latin typeface="Calibri"/>
              </a:rPr>
              <a:t>CA 1B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E293B"/>
                </a:solidFill>
                <a:latin typeface="Cambria"/>
              </a:rPr>
              <a:t>Ventajas de los lenguajes de marcas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920240"/>
            <a:ext cx="5394960" cy="201168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31520" y="2194560"/>
            <a:ext cx="640080" cy="640080"/>
          </a:xfrm>
          <a:prstGeom prst="ellipse">
            <a:avLst/>
          </a:prstGeom>
          <a:solidFill>
            <a:srgbClr val="F1F5F9"/>
          </a:solidFill>
          <a:ln w="1905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0F766E"/>
                </a:solidFill>
                <a:latin typeface="Calibri"/>
              </a:rPr>
              <a:t>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926079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50" b="1" i="0">
                <a:solidFill>
                  <a:srgbClr val="1E293B"/>
                </a:solidFill>
                <a:latin typeface="Cambria"/>
              </a:rPr>
              <a:t>Texto plano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401568"/>
            <a:ext cx="49377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64748B"/>
                </a:solidFill>
                <a:latin typeface="Calibri"/>
              </a:rPr>
              <a:t>Se leen, escriben y editan con cualquier editor. Comparables línea a línea con Git — un binario solo dice "esto es distinto".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394960" cy="201168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92240" y="2194560"/>
            <a:ext cx="640080" cy="640080"/>
          </a:xfrm>
          <a:prstGeom prst="ellipse">
            <a:avLst/>
          </a:prstGeom>
          <a:solidFill>
            <a:srgbClr val="F1F5F9"/>
          </a:solidFill>
          <a:ln w="1905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19456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0F766E"/>
                </a:solidFill>
                <a:latin typeface="Calibri"/>
              </a:rPr>
              <a:t>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926079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50" b="1" i="0">
                <a:solidFill>
                  <a:srgbClr val="1E293B"/>
                </a:solidFill>
                <a:latin typeface="Cambria"/>
              </a:rPr>
              <a:t>Independencia del dispositivo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3401568"/>
            <a:ext cx="49377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64748B"/>
                </a:solidFill>
                <a:latin typeface="Calibri"/>
              </a:rPr>
              <a:t>El mismo documento se interpreta según el dispositivo final: pantalla, impresora, móvil.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251960"/>
            <a:ext cx="5394960" cy="201168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4526280"/>
            <a:ext cx="640080" cy="640080"/>
          </a:xfrm>
          <a:prstGeom prst="ellipse">
            <a:avLst/>
          </a:prstGeom>
          <a:solidFill>
            <a:srgbClr val="F1F5F9"/>
          </a:solidFill>
          <a:ln w="1905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52628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0F766E"/>
                </a:solidFill>
                <a:latin typeface="Calibri"/>
              </a:rPr>
              <a:t>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25780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50" b="1" i="0">
                <a:solidFill>
                  <a:srgbClr val="1E293B"/>
                </a:solidFill>
                <a:latin typeface="Cambria"/>
              </a:rPr>
              <a:t>Fácil intercambio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733288"/>
            <a:ext cx="49377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64748B"/>
                </a:solidFill>
                <a:latin typeface="Calibri"/>
              </a:rPr>
              <a:t>Cualquier sistema lee texto plano — resuelve el problema histórico de compartir datos entre aplicaciones distintas.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4251960"/>
            <a:ext cx="5394960" cy="201168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92240" y="4526280"/>
            <a:ext cx="640080" cy="640080"/>
          </a:xfrm>
          <a:prstGeom prst="ellipse">
            <a:avLst/>
          </a:prstGeom>
          <a:solidFill>
            <a:srgbClr val="F1F5F9"/>
          </a:solidFill>
          <a:ln w="1905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452628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0F766E"/>
                </a:solidFill>
                <a:latin typeface="Calibri"/>
              </a:rPr>
              <a:t>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525780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50" b="1" i="0">
                <a:solidFill>
                  <a:srgbClr val="1E293B"/>
                </a:solidFill>
                <a:latin typeface="Cambria"/>
              </a:rPr>
              <a:t>Flexibilidad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5733288"/>
            <a:ext cx="49377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64748B"/>
                </a:solidFill>
                <a:latin typeface="Calibri"/>
              </a:rPr>
              <a:t>Se combinan con otros lenguajes fácilmente: HTML + JavaScript, o un &lt;svg&gt; dentro de una página HTML.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3 · Ventajas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UD01 · Lenguajes de Marcas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457200"/>
            <a:ext cx="502920" cy="502920"/>
          </a:xfrm>
          <a:prstGeom prst="roundRect">
            <a:avLst>
              <a:gd name="adj" fmla="val 28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ourier New"/>
              </a:rPr>
              <a:t>&lt;/&gt;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389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F766E"/>
                </a:solidFill>
                <a:latin typeface="Calibri"/>
              </a:rPr>
              <a:t>CA 1C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E293B"/>
                </a:solidFill>
                <a:latin typeface="Cambria"/>
              </a:rPr>
              <a:t>De dónde viene todo esto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576072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1E293B"/>
                </a:solidFill>
                <a:latin typeface="Calibri"/>
              </a:rPr>
              <a:t>Al principio, cada aplicación usaba sus propias marcas: imposible intercambiar documentos entre plataformas.</a:t>
            </a:r>
          </a:p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1E293B"/>
                </a:solidFill>
                <a:latin typeface="Calibri"/>
              </a:rPr>
              <a:t>GML (1969-70, Charles Goldfarb, IBM): primero en independizar el documento del dispositivo.</a:t>
            </a:r>
          </a:p>
          <a:p>
            <a:pPr algn="l"/>
            <a:r>
              <a:rPr sz="1500" b="0" i="0">
                <a:solidFill>
                  <a:srgbClr val="1E293B"/>
                </a:solidFill>
                <a:latin typeface="Calibri"/>
              </a:rPr>
              <a:t>SGML (estandarización ISO, 1986): un metalenguaje — no tiene etiquetas propias, define reglas para crear otros LM. XML nace como su subconjunto simplificado; HTML como una aplicación de SGML interpretada de forma permisiva.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709160"/>
            <a:ext cx="5760720" cy="150876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4855464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D97706"/>
                </a:solidFill>
                <a:latin typeface="Calibri"/>
              </a:rPr>
              <a:t>⏳  Esto es historia, no una herramienta viva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239512"/>
            <a:ext cx="5303520" cy="8229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Hoy casi nadie escribe SGML directamente. Se estudia porque explica por qué HTML y XML son como son.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82880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E293B"/>
                </a:solidFill>
                <a:latin typeface="Cambria"/>
              </a:rPr>
              <a:t>Un documento SGML tiene 3 partes: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2331720"/>
            <a:ext cx="5212080" cy="64008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2331720"/>
            <a:ext cx="1380744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 i="0">
                <a:solidFill>
                  <a:srgbClr val="0F766E"/>
                </a:solidFill>
                <a:latin typeface="Calibri"/>
              </a:rPr>
              <a:t>Declaración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55863" y="2331720"/>
            <a:ext cx="3465576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>
                <a:solidFill>
                  <a:srgbClr val="64748B"/>
                </a:solidFill>
                <a:latin typeface="Calibri"/>
              </a:rPr>
              <a:t>indica que el documento es SGML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92240" y="3108960"/>
            <a:ext cx="5212080" cy="64008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3108960"/>
            <a:ext cx="1380744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 i="0">
                <a:solidFill>
                  <a:srgbClr val="0F766E"/>
                </a:solidFill>
                <a:latin typeface="Calibri"/>
              </a:rPr>
              <a:t>DTD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55863" y="3108960"/>
            <a:ext cx="3465576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>
                <a:solidFill>
                  <a:srgbClr val="64748B"/>
                </a:solidFill>
                <a:latin typeface="Calibri"/>
              </a:rPr>
              <a:t>define la sintaxis: qué etiquetas hay y cómo se combinan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92240" y="3886200"/>
            <a:ext cx="5212080" cy="64008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0" y="3886200"/>
            <a:ext cx="1380744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 i="0">
                <a:solidFill>
                  <a:srgbClr val="0F766E"/>
                </a:solidFill>
                <a:latin typeface="Calibri"/>
              </a:rPr>
              <a:t>Instancia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55863" y="3886200"/>
            <a:ext cx="3465576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>
                <a:solidFill>
                  <a:srgbClr val="64748B"/>
                </a:solidFill>
                <a:latin typeface="Calibri"/>
              </a:rPr>
              <a:t>los datos reales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92240" y="4709160"/>
            <a:ext cx="5212080" cy="1508760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20840" y="4892040"/>
            <a:ext cx="475488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 i="0">
                <a:solidFill>
                  <a:srgbClr val="E2E8F0"/>
                </a:solidFill>
                <a:latin typeface="Courier New"/>
              </a:rPr>
              <a:t>&lt;daw&gt;</a:t>
            </a:r>
          </a:p>
          <a:p>
            <a:pPr algn="l">
              <a:spcAft>
                <a:spcPts val="300"/>
              </a:spcAft>
            </a:pPr>
            <a:r>
              <a:rPr sz="1250" b="0" i="0">
                <a:solidFill>
                  <a:srgbClr val="E2E8F0"/>
                </a:solidFill>
                <a:latin typeface="Courier New"/>
              </a:rPr>
              <a:t>  &lt;modulo&gt;</a:t>
            </a:r>
          </a:p>
          <a:p>
            <a:pPr algn="l">
              <a:spcAft>
                <a:spcPts val="300"/>
              </a:spcAft>
            </a:pPr>
            <a:r>
              <a:rPr sz="1250" b="0" i="0">
                <a:solidFill>
                  <a:srgbClr val="E2E8F0"/>
                </a:solidFill>
                <a:latin typeface="Courier New"/>
              </a:rPr>
              <a:t>    &lt;titulo&gt;Lenguaje de Marcas&lt;/titulo&gt;</a:t>
            </a:r>
          </a:p>
          <a:p>
            <a:pPr algn="l">
              <a:spcAft>
                <a:spcPts val="300"/>
              </a:spcAft>
            </a:pPr>
            <a:r>
              <a:rPr sz="1250" b="0" i="0">
                <a:solidFill>
                  <a:srgbClr val="E2E8F0"/>
                </a:solidFill>
                <a:latin typeface="Courier New"/>
              </a:rPr>
              <a:t>    &lt;contenido&gt;...&lt;/contenido&gt;</a:t>
            </a:r>
          </a:p>
          <a:p>
            <a:pPr algn="l">
              <a:spcAft>
                <a:spcPts val="300"/>
              </a:spcAft>
            </a:pPr>
            <a:r>
              <a:rPr sz="1250" b="0" i="0">
                <a:solidFill>
                  <a:srgbClr val="E2E8F0"/>
                </a:solidFill>
                <a:latin typeface="Courier New"/>
              </a:rPr>
              <a:t>  &lt;/modulo&gt;</a:t>
            </a:r>
          </a:p>
          <a:p>
            <a:pPr algn="l"/>
            <a:r>
              <a:rPr sz="1250" b="0" i="0">
                <a:solidFill>
                  <a:srgbClr val="E2E8F0"/>
                </a:solidFill>
                <a:latin typeface="Courier New"/>
              </a:rPr>
              <a:t>&lt;/daw&gt;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3 · Origen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UD01 · Lenguajes de Marcas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457200"/>
            <a:ext cx="502920" cy="502920"/>
          </a:xfrm>
          <a:prstGeom prst="roundRect">
            <a:avLst>
              <a:gd name="adj" fmla="val 28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ourier New"/>
              </a:rPr>
              <a:t>&lt;/&gt;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389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F766E"/>
                </a:solidFill>
                <a:latin typeface="Calibri"/>
              </a:rPr>
              <a:t>CA 1C, 1D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E293B"/>
                </a:solidFill>
                <a:latin typeface="Cambria"/>
              </a:rPr>
              <a:t>Otros lenguajes de marcas relevantes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154680"/>
            <a:ext cx="10972800" cy="45720"/>
          </a:xfrm>
          <a:prstGeom prst="rect">
            <a:avLst/>
          </a:prstGeom>
          <a:solidFill>
            <a:srgbClr val="FFFFFF"/>
          </a:solidFill>
          <a:ln w="254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42316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64748B"/>
                </a:solidFill>
                <a:latin typeface="Calibri"/>
              </a:rPr>
              <a:t>70's</a:t>
            </a:r>
          </a:p>
        </p:txBody>
      </p:sp>
      <p:sp>
        <p:nvSpPr>
          <p:cNvPr id="8" name="Oval 7"/>
          <p:cNvSpPr/>
          <p:nvPr/>
        </p:nvSpPr>
        <p:spPr>
          <a:xfrm>
            <a:off x="539496" y="3054096"/>
            <a:ext cx="201168" cy="201168"/>
          </a:xfrm>
          <a:prstGeom prst="ellipse">
            <a:avLst/>
          </a:prstGeom>
          <a:solidFill>
            <a:srgbClr val="2DD4BF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-320040" y="3429000"/>
            <a:ext cx="1920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1" i="0">
                <a:solidFill>
                  <a:srgbClr val="1E293B"/>
                </a:solidFill>
                <a:latin typeface="Cambria"/>
              </a:rPr>
              <a:t>TeX / LaTeX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-320040" y="3840480"/>
            <a:ext cx="1920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 i="0">
                <a:solidFill>
                  <a:srgbClr val="0F766E"/>
                </a:solidFill>
                <a:latin typeface="Calibri"/>
              </a:rPr>
              <a:t>Vivo · nicho científico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59" y="242316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64748B"/>
                </a:solidFill>
                <a:latin typeface="Calibri"/>
              </a:rPr>
              <a:t>1987</a:t>
            </a:r>
          </a:p>
        </p:txBody>
      </p:sp>
      <p:sp>
        <p:nvSpPr>
          <p:cNvPr id="12" name="Oval 11"/>
          <p:cNvSpPr/>
          <p:nvPr/>
        </p:nvSpPr>
        <p:spPr>
          <a:xfrm>
            <a:off x="2734056" y="3054096"/>
            <a:ext cx="201168" cy="201168"/>
          </a:xfrm>
          <a:prstGeom prst="ellipse">
            <a:avLst/>
          </a:prstGeom>
          <a:solidFill>
            <a:srgbClr val="2DD4BF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74519" y="3429000"/>
            <a:ext cx="1920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1" i="0">
                <a:solidFill>
                  <a:srgbClr val="1E293B"/>
                </a:solidFill>
                <a:latin typeface="Cambria"/>
              </a:rPr>
              <a:t>RTF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3840480"/>
            <a:ext cx="1920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 i="0">
                <a:solidFill>
                  <a:srgbClr val="64748B"/>
                </a:solidFill>
                <a:latin typeface="Calibri"/>
              </a:rPr>
              <a:t>Uso residual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42316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64748B"/>
                </a:solidFill>
                <a:latin typeface="Calibri"/>
              </a:rPr>
              <a:t>1992</a:t>
            </a:r>
          </a:p>
        </p:txBody>
      </p:sp>
      <p:sp>
        <p:nvSpPr>
          <p:cNvPr id="16" name="Oval 15"/>
          <p:cNvSpPr/>
          <p:nvPr/>
        </p:nvSpPr>
        <p:spPr>
          <a:xfrm>
            <a:off x="4928616" y="3054096"/>
            <a:ext cx="201168" cy="201168"/>
          </a:xfrm>
          <a:prstGeom prst="ellipse">
            <a:avLst/>
          </a:prstGeom>
          <a:solidFill>
            <a:srgbClr val="2DD4BF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69080" y="3429000"/>
            <a:ext cx="1920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1" i="0">
                <a:solidFill>
                  <a:srgbClr val="1E293B"/>
                </a:solidFill>
                <a:latin typeface="Cambria"/>
              </a:rPr>
              <a:t>HTML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69080" y="3840480"/>
            <a:ext cx="1920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 i="0">
                <a:solidFill>
                  <a:srgbClr val="0F766E"/>
                </a:solidFill>
                <a:latin typeface="Calibri"/>
              </a:rPr>
              <a:t>Totalmente vigente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79" y="242316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64748B"/>
                </a:solidFill>
                <a:latin typeface="Calibri"/>
              </a:rPr>
              <a:t>1998</a:t>
            </a:r>
          </a:p>
        </p:txBody>
      </p:sp>
      <p:sp>
        <p:nvSpPr>
          <p:cNvPr id="20" name="Oval 19"/>
          <p:cNvSpPr/>
          <p:nvPr/>
        </p:nvSpPr>
        <p:spPr>
          <a:xfrm>
            <a:off x="7123175" y="3054096"/>
            <a:ext cx="201168" cy="201168"/>
          </a:xfrm>
          <a:prstGeom prst="ellipse">
            <a:avLst/>
          </a:prstGeom>
          <a:solidFill>
            <a:srgbClr val="2DD4BF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63640" y="3429000"/>
            <a:ext cx="1920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1" i="0">
                <a:solidFill>
                  <a:srgbClr val="1E293B"/>
                </a:solidFill>
                <a:latin typeface="Cambria"/>
              </a:rPr>
              <a:t>XML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3840480"/>
            <a:ext cx="1920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 i="0">
                <a:solidFill>
                  <a:srgbClr val="0F766E"/>
                </a:solidFill>
                <a:latin typeface="Calibri"/>
              </a:rPr>
              <a:t>Muy vigente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0" y="242316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64748B"/>
                </a:solidFill>
                <a:latin typeface="Calibri"/>
              </a:rPr>
              <a:t>2001</a:t>
            </a:r>
          </a:p>
        </p:txBody>
      </p:sp>
      <p:sp>
        <p:nvSpPr>
          <p:cNvPr id="24" name="Oval 23"/>
          <p:cNvSpPr/>
          <p:nvPr/>
        </p:nvSpPr>
        <p:spPr>
          <a:xfrm>
            <a:off x="9317736" y="3054096"/>
            <a:ext cx="201168" cy="201168"/>
          </a:xfrm>
          <a:prstGeom prst="ellipse">
            <a:avLst/>
          </a:prstGeom>
          <a:solidFill>
            <a:srgbClr val="2DD4BF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58199" y="3429000"/>
            <a:ext cx="1920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1" i="0">
                <a:solidFill>
                  <a:srgbClr val="1E293B"/>
                </a:solidFill>
                <a:latin typeface="Cambria"/>
              </a:rPr>
              <a:t>JSON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199" y="3840480"/>
            <a:ext cx="1920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 i="0">
                <a:solidFill>
                  <a:srgbClr val="0F766E"/>
                </a:solidFill>
                <a:latin typeface="Calibri"/>
              </a:rPr>
              <a:t>Vigente · APIs web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242316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64748B"/>
                </a:solidFill>
                <a:latin typeface="Calibri"/>
              </a:rPr>
              <a:t>2004</a:t>
            </a:r>
          </a:p>
        </p:txBody>
      </p:sp>
      <p:sp>
        <p:nvSpPr>
          <p:cNvPr id="28" name="Oval 27"/>
          <p:cNvSpPr/>
          <p:nvPr/>
        </p:nvSpPr>
        <p:spPr>
          <a:xfrm>
            <a:off x="11512296" y="3054096"/>
            <a:ext cx="201168" cy="201168"/>
          </a:xfrm>
          <a:prstGeom prst="ellipse">
            <a:avLst/>
          </a:prstGeom>
          <a:solidFill>
            <a:srgbClr val="2DD4BF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652759" y="3429000"/>
            <a:ext cx="1920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1" i="0">
                <a:solidFill>
                  <a:srgbClr val="1E293B"/>
                </a:solidFill>
                <a:latin typeface="Cambria"/>
              </a:rPr>
              <a:t>Markdown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52759" y="3840480"/>
            <a:ext cx="1920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 i="0">
                <a:solidFill>
                  <a:srgbClr val="0F766E"/>
                </a:solidFill>
                <a:latin typeface="Calibri"/>
              </a:rPr>
              <a:t>Muy vigente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466344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  <a:latin typeface="Calibri"/>
              </a:rPr>
              <a:t>Según el tipo de marca que utilizan: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5029200"/>
            <a:ext cx="112471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1E293B"/>
                </a:solidFill>
                <a:latin typeface="Calibri"/>
              </a:rPr>
              <a:t>Presentación (formato/tipografía): RTF, TeX, Markdown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1E293B"/>
                </a:solidFill>
                <a:latin typeface="Calibri"/>
              </a:rPr>
              <a:t>Descriptivo/estructural: XML, JSON</a:t>
            </a:r>
          </a:p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Híbrido (los dos anteriores): HTML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3 · Panorama de lenguajes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UD01 · Lenguajes de Marcas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457200"/>
            <a:ext cx="502920" cy="502920"/>
          </a:xfrm>
          <a:prstGeom prst="roundRect">
            <a:avLst>
              <a:gd name="adj" fmla="val 28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F172A"/>
                </a:solidFill>
                <a:latin typeface="Courier New"/>
              </a:rPr>
              <a:t>&lt;/&gt;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389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DD4BF"/>
                </a:solidFill>
                <a:latin typeface="Calibri"/>
              </a:rPr>
              <a:t>ESTO ESTÁ CAMBIANDO AHORA MISMO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8FAFC"/>
                </a:solidFill>
                <a:latin typeface="Cambria"/>
              </a:rPr>
              <a:t>Actualidad normativa y tecnológica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011680"/>
            <a:ext cx="5349240" cy="384048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4800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2DD4BF"/>
                </a:solidFill>
                <a:latin typeface="Cambria"/>
              </a:rPr>
              <a:t>📡  HTML ya no tiene "versiones"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880360"/>
            <a:ext cx="48006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50" b="0" i="0">
                <a:solidFill>
                  <a:srgbClr val="CBD5E1"/>
                </a:solidFill>
                <a:latin typeface="Calibri"/>
              </a:rPr>
              <a:t>Desde 2019, el W3C cedió la autoridad sobre el estándar a WHATWG, que lo mantiene como un "Living Standard": un documento vivo, actualizado sin parar, sin congelarse en un número de versión.</a:t>
            </a:r>
          </a:p>
          <a:p>
            <a:pPr algn="l"/>
            <a:r>
              <a:rPr sz="1350" b="0" i="0">
                <a:solidFill>
                  <a:srgbClr val="CBD5E1"/>
                </a:solidFill>
                <a:latin typeface="Calibri"/>
              </a:rPr>
              <a:t>"HTML5" es hoy más una etiqueta de marketing que una versión formal.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2011680"/>
            <a:ext cx="5349240" cy="384048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286000"/>
            <a:ext cx="4800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2DD4BF"/>
                </a:solidFill>
                <a:latin typeface="Cambria"/>
              </a:rPr>
              <a:t>📡  XML no ha muerto, ha cambiado de terreno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880360"/>
            <a:ext cx="48006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CBD5E1"/>
                </a:solidFill>
                <a:latin typeface="Calibri"/>
              </a:rPr>
              <a:t>JSON le gana en las APIs web (más ligero). Pero XML sigue siendo la base de: formatos de Office (.docx/.xlsx/.pptx son ZIPs de XML), SVG, feeds RSS/Atom, XSLT e integración empresarial.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3 · Actualidad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UD01 · Lenguajes de Marcas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457200"/>
            <a:ext cx="502920" cy="502920"/>
          </a:xfrm>
          <a:prstGeom prst="roundRect">
            <a:avLst>
              <a:gd name="adj" fmla="val 28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ourier New"/>
              </a:rPr>
              <a:t>&lt;/&gt;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389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F766E"/>
                </a:solidFill>
                <a:latin typeface="Calibri"/>
              </a:rPr>
              <a:t>RESUMEN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E293B"/>
                </a:solidFill>
                <a:latin typeface="Cambria"/>
              </a:rPr>
              <a:t>Características de los lenguajes de marcas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03120"/>
            <a:ext cx="2148840" cy="301752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8720" y="2377440"/>
            <a:ext cx="685800" cy="685800"/>
          </a:xfrm>
          <a:prstGeom prst="ellipse">
            <a:avLst/>
          </a:prstGeom>
          <a:solidFill>
            <a:srgbClr val="F1F5F9"/>
          </a:solidFill>
          <a:ln w="1905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377440"/>
            <a:ext cx="685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0F766E"/>
                </a:solidFill>
                <a:latin typeface="Calibri"/>
              </a:rPr>
              <a:t>Aa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246120"/>
            <a:ext cx="187451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1" i="0">
                <a:solidFill>
                  <a:srgbClr val="1E293B"/>
                </a:solidFill>
                <a:latin typeface="Cambria"/>
              </a:rPr>
              <a:t>Texto plano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94760"/>
            <a:ext cx="178308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 i="0">
                <a:solidFill>
                  <a:srgbClr val="64748B"/>
                </a:solidFill>
                <a:latin typeface="Calibri"/>
              </a:rPr>
              <a:t>Editable con cualquier editor; independiente del SO.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0" y="2103120"/>
            <a:ext cx="2148840" cy="301752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474720" y="2377440"/>
            <a:ext cx="685800" cy="685800"/>
          </a:xfrm>
          <a:prstGeom prst="ellipse">
            <a:avLst/>
          </a:prstGeom>
          <a:solidFill>
            <a:srgbClr val="F1F5F9"/>
          </a:solidFill>
          <a:ln w="1905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0" y="2377440"/>
            <a:ext cx="685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0F766E"/>
                </a:solidFill>
                <a:latin typeface="Calibri"/>
              </a:rPr>
              <a:t>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360" y="3246120"/>
            <a:ext cx="187451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1" i="0">
                <a:solidFill>
                  <a:srgbClr val="1E293B"/>
                </a:solidFill>
                <a:latin typeface="Cambria"/>
              </a:rPr>
              <a:t>Integración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3794760"/>
            <a:ext cx="178308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 i="0">
                <a:solidFill>
                  <a:srgbClr val="64748B"/>
                </a:solidFill>
                <a:latin typeface="Calibri"/>
              </a:rPr>
              <a:t>Las marcas van integradas con el texto: &lt;h2&gt;Contenido&lt;/h2&gt;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0" y="2103120"/>
            <a:ext cx="2148840" cy="301752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760720" y="2377440"/>
            <a:ext cx="685800" cy="685800"/>
          </a:xfrm>
          <a:prstGeom prst="ellipse">
            <a:avLst/>
          </a:prstGeom>
          <a:solidFill>
            <a:srgbClr val="F1F5F9"/>
          </a:solidFill>
          <a:ln w="1905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60720" y="2377440"/>
            <a:ext cx="685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0F766E"/>
                </a:solidFill>
                <a:latin typeface="Calibri"/>
              </a:rPr>
              <a:t>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66360" y="3246120"/>
            <a:ext cx="187451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1" i="0">
                <a:solidFill>
                  <a:srgbClr val="1E293B"/>
                </a:solidFill>
                <a:latin typeface="Cambria"/>
              </a:rPr>
              <a:t>Independencia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0" y="3794760"/>
            <a:ext cx="178308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 i="0">
                <a:solidFill>
                  <a:srgbClr val="64748B"/>
                </a:solidFill>
                <a:latin typeface="Calibri"/>
              </a:rPr>
              <a:t>Se interpreta distinto según el dispositivo final.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0" y="2103120"/>
            <a:ext cx="2148840" cy="301752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0" y="2377440"/>
            <a:ext cx="685800" cy="685800"/>
          </a:xfrm>
          <a:prstGeom prst="ellipse">
            <a:avLst/>
          </a:prstGeom>
          <a:solidFill>
            <a:srgbClr val="F1F5F9"/>
          </a:solidFill>
          <a:ln w="1905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0" y="2377440"/>
            <a:ext cx="685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0F766E"/>
                </a:solidFill>
                <a:latin typeface="Calibri"/>
              </a:rPr>
              <a:t>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2360" y="3246120"/>
            <a:ext cx="187451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1" i="0">
                <a:solidFill>
                  <a:srgbClr val="1E293B"/>
                </a:solidFill>
                <a:latin typeface="Cambria"/>
              </a:rPr>
              <a:t>Especialización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79" y="3794760"/>
            <a:ext cx="178308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 i="0">
                <a:solidFill>
                  <a:srgbClr val="64748B"/>
                </a:solidFill>
                <a:latin typeface="Calibri"/>
              </a:rPr>
              <a:t>No son solo para web: matemáticas, música, química...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601200" y="2103120"/>
            <a:ext cx="2148840" cy="301752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332720" y="2377440"/>
            <a:ext cx="685800" cy="685800"/>
          </a:xfrm>
          <a:prstGeom prst="ellipse">
            <a:avLst/>
          </a:prstGeom>
          <a:solidFill>
            <a:srgbClr val="F1F5F9"/>
          </a:solidFill>
          <a:ln w="1905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332720" y="2377440"/>
            <a:ext cx="685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0F766E"/>
                </a:solidFill>
                <a:latin typeface="Calibri"/>
              </a:rPr>
              <a:t>+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38360" y="3246120"/>
            <a:ext cx="187451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1" i="0">
                <a:solidFill>
                  <a:srgbClr val="1E293B"/>
                </a:solidFill>
                <a:latin typeface="Cambria"/>
              </a:rPr>
              <a:t>Flexibilidad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84080" y="3794760"/>
            <a:ext cx="178308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 i="0">
                <a:solidFill>
                  <a:srgbClr val="64748B"/>
                </a:solidFill>
                <a:latin typeface="Calibri"/>
              </a:rPr>
              <a:t>Se combinan fácilmente con otros lenguajes.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349240"/>
            <a:ext cx="112471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1">
                <a:solidFill>
                  <a:srgbClr val="64748B"/>
                </a:solidFill>
                <a:latin typeface="Calibri"/>
              </a:rPr>
              <a:t>Rasgos habituales, no una ley cerrada — formatos como EXI codifican XML en binario. XML añade dos más: es también validable y extensible.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4 · Características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UD01 · Lenguajes de Marcas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457200"/>
            <a:ext cx="502920" cy="502920"/>
          </a:xfrm>
          <a:prstGeom prst="roundRect">
            <a:avLst>
              <a:gd name="adj" fmla="val 28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ourier New"/>
              </a:rPr>
              <a:t>&lt;/&gt;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389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F766E"/>
                </a:solidFill>
                <a:latin typeface="Calibri"/>
              </a:rPr>
              <a:t>CA 1D, 1E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E293B"/>
                </a:solidFill>
                <a:latin typeface="Cambria"/>
              </a:rPr>
              <a:t>XML: el lenguaje de propósito general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5760720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1E293B"/>
                </a:solidFill>
                <a:latin typeface="Calibri"/>
              </a:rPr>
              <a:t>Metalenguaje: infinitas etiquetas propias, adaptadas a cada necesidad.</a:t>
            </a:r>
          </a:p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1E293B"/>
                </a:solidFill>
                <a:latin typeface="Calibri"/>
              </a:rPr>
              <a:t>Estructurado: organiza datos en árbol sin pensar en cómo se presentarán.</a:t>
            </a:r>
          </a:p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1E293B"/>
                </a:solidFill>
                <a:latin typeface="Calibri"/>
              </a:rPr>
              <a:t>Validable: se puede comprobar si cumple una estructura definida (DTD / Schema).</a:t>
            </a:r>
          </a:p>
          <a:p>
            <a:pPr algn="l"/>
            <a:r>
              <a:rPr sz="1500" b="0" i="0">
                <a:solidFill>
                  <a:srgbClr val="1E293B"/>
                </a:solidFill>
                <a:latin typeface="Calibri"/>
              </a:rPr>
              <a:t>No limitado a la web: configuración, Office, apps, integración empresarial...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937760"/>
            <a:ext cx="5760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1">
                <a:solidFill>
                  <a:srgbClr val="64748B"/>
                </a:solidFill>
                <a:latin typeface="Calibri"/>
              </a:rPr>
              <a:t>Estandarizado por W3C, ISO y la comunidad Open Source.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92024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E293B"/>
                </a:solidFill>
                <a:latin typeface="Cambria"/>
              </a:rPr>
              <a:t>Lenguajes construidos a partir de XML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2423160"/>
            <a:ext cx="5212080" cy="50292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2423160"/>
            <a:ext cx="11722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 i="0">
                <a:solidFill>
                  <a:srgbClr val="0F766E"/>
                </a:solidFill>
                <a:latin typeface="Calibri"/>
              </a:rPr>
              <a:t>SVG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47380" y="2423160"/>
            <a:ext cx="3674059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>
                <a:solidFill>
                  <a:srgbClr val="64748B"/>
                </a:solidFill>
                <a:latin typeface="Calibri"/>
              </a:rPr>
              <a:t>Gráficos vectoriales 2D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3063239"/>
            <a:ext cx="5212080" cy="50292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3063239"/>
            <a:ext cx="11722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 i="0">
                <a:solidFill>
                  <a:srgbClr val="0F766E"/>
                </a:solidFill>
                <a:latin typeface="Calibri"/>
              </a:rPr>
              <a:t>MathML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47380" y="3063239"/>
            <a:ext cx="3674059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>
                <a:solidFill>
                  <a:srgbClr val="64748B"/>
                </a:solidFill>
                <a:latin typeface="Calibri"/>
              </a:rPr>
              <a:t>Fórmulas matemáticas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3703320"/>
            <a:ext cx="5212080" cy="50292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3703320"/>
            <a:ext cx="11722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 i="0">
                <a:solidFill>
                  <a:srgbClr val="0F766E"/>
                </a:solidFill>
                <a:latin typeface="Calibri"/>
              </a:rPr>
              <a:t>SMIL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47380" y="3703320"/>
            <a:ext cx="3674059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>
                <a:solidFill>
                  <a:srgbClr val="64748B"/>
                </a:solidFill>
                <a:latin typeface="Calibri"/>
              </a:rPr>
              <a:t>Información multimedia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92240" y="4343400"/>
            <a:ext cx="5212080" cy="50292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4343400"/>
            <a:ext cx="11722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 i="0">
                <a:solidFill>
                  <a:srgbClr val="0F766E"/>
                </a:solidFill>
                <a:latin typeface="Calibri"/>
              </a:rPr>
              <a:t>SSML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47380" y="4343400"/>
            <a:ext cx="3674059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>
                <a:solidFill>
                  <a:srgbClr val="64748B"/>
                </a:solidFill>
                <a:latin typeface="Calibri"/>
              </a:rPr>
              <a:t>Síntesis de voz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5 · XML de propósito general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UD01 · Lenguajes de Marcas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457200"/>
            <a:ext cx="502920" cy="502920"/>
          </a:xfrm>
          <a:prstGeom prst="roundRect">
            <a:avLst>
              <a:gd name="adj" fmla="val 28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ourier New"/>
              </a:rPr>
              <a:t>&lt;/&gt;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389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F766E"/>
                </a:solidFill>
                <a:latin typeface="Calibri"/>
              </a:rPr>
              <a:t>CA 1D, 1E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E293B"/>
                </a:solidFill>
                <a:latin typeface="Cambria"/>
              </a:rPr>
              <a:t>SVG: el icono de la portada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5760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E293B"/>
                </a:solidFill>
                <a:latin typeface="Calibri"/>
              </a:rPr>
              <a:t>El logo &lt;/&gt; de la portada de este documento es un SVG — es decir, XML.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14600"/>
            <a:ext cx="5760720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50" b="0" i="0">
                <a:solidFill>
                  <a:srgbClr val="64748B"/>
                </a:solidFill>
                <a:latin typeface="Calibri"/>
              </a:rPr>
              <a:t>Al ser XML, un navegador puede insertarlo directamente en el HTML y modificarlo con CSS o JavaScript — algo que un .png o .jpg no permite.</a:t>
            </a:r>
          </a:p>
          <a:p>
            <a:pPr algn="l">
              <a:spcAft>
                <a:spcPts val="800"/>
              </a:spcAft>
            </a:pPr>
            <a:r>
              <a:rPr sz="1350" b="0" i="0">
                <a:solidFill>
                  <a:srgbClr val="64748B"/>
                </a:solidFill>
                <a:latin typeface="Calibri"/>
              </a:rPr>
              <a:t>Es independiente de la resolución: no está hecho de píxeles, sino de fórmulas geométricas. Se ve nítido en cualquier tamaño.</a:t>
            </a:r>
          </a:p>
          <a:p>
            <a:pPr algn="l"/>
            <a:r>
              <a:rPr sz="1350" b="0" i="0">
                <a:solidFill>
                  <a:srgbClr val="64748B"/>
                </a:solidFill>
                <a:latin typeface="Calibri"/>
              </a:rPr>
              <a:t>&lt;circle&gt; dibuja el círculo (dos veces: relleno + borde); &lt;text&gt; coloca el símbolo &lt;/&gt; centrado.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828800"/>
            <a:ext cx="5212080" cy="3703320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20840" y="2011680"/>
            <a:ext cx="4754880" cy="333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E2E8F0"/>
                </a:solidFill>
                <a:latin typeface="Courier New"/>
              </a:rPr>
              <a:t>&lt;svg xmlns="..." viewBox="0 0 400 400"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E2E8F0"/>
                </a:solidFill>
                <a:latin typeface="Courier New"/>
              </a:rPr>
              <a:t>     width="180" height="180"&gt;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E2E8F0"/>
                </a:solidFill>
                <a:latin typeface="Courier New"/>
              </a:rPr>
              <a:t>  &lt;circle cx="200" cy="200" r="170"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E2E8F0"/>
                </a:solidFill>
                <a:latin typeface="Courier New"/>
              </a:rPr>
              <a:t>          fill="#F0FDFA"/&gt;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E2E8F0"/>
                </a:solidFill>
                <a:latin typeface="Courier New"/>
              </a:rPr>
              <a:t>  &lt;circle cx="200" cy="200" r="170"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E2E8F0"/>
                </a:solidFill>
                <a:latin typeface="Courier New"/>
              </a:rPr>
              <a:t>          fill="none" stroke="#99F6E4"/&gt;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E2E8F0"/>
                </a:solidFill>
                <a:latin typeface="Courier New"/>
              </a:rPr>
              <a:t>  &lt;text x="200" y="248"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E2E8F0"/>
                </a:solidFill>
                <a:latin typeface="Courier New"/>
              </a:rPr>
              <a:t>        text-anchor="middle"&gt;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EEAD4"/>
                </a:solidFill>
                <a:latin typeface="Courier New"/>
              </a:rPr>
              <a:t>    &amp;lt;/&amp;gt;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E2E8F0"/>
                </a:solidFill>
                <a:latin typeface="Courier New"/>
              </a:rPr>
              <a:t>  &lt;/text&gt;</a:t>
            </a:r>
          </a:p>
          <a:p>
            <a:pPr algn="l"/>
            <a:r>
              <a:rPr sz="1150" b="0" i="0">
                <a:solidFill>
                  <a:srgbClr val="E2E8F0"/>
                </a:solidFill>
                <a:latin typeface="Courier New"/>
              </a:rPr>
              <a:t>&lt;/svg&gt;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5 · XML de propósito general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UD01 · Lenguajes de Marcas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457200"/>
            <a:ext cx="502920" cy="502920"/>
          </a:xfrm>
          <a:prstGeom prst="roundRect">
            <a:avLst>
              <a:gd name="adj" fmla="val 28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ourier New"/>
              </a:rPr>
              <a:t>&lt;/&gt;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389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F766E"/>
                </a:solidFill>
                <a:latin typeface="Calibri"/>
              </a:rPr>
              <a:t>CA 1F, 1G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E293B"/>
                </a:solidFill>
                <a:latin typeface="Cambria"/>
              </a:rPr>
              <a:t>XML: estructura y sintaxis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5760720" cy="2834640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011680"/>
            <a:ext cx="530352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94A3B8"/>
                </a:solidFill>
                <a:latin typeface="Courier New"/>
              </a:rPr>
              <a:t>&lt;?xml version="1.0" encoding="UTF-8"?&gt;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5EEAD4"/>
                </a:solidFill>
                <a:latin typeface="Courier New"/>
              </a:rPr>
              <a:t>&lt;nota&gt;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E2E8F0"/>
                </a:solidFill>
                <a:latin typeface="Courier New"/>
              </a:rPr>
              <a:t>  &lt;de&gt;Pablo&lt;/de&gt;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E2E8F0"/>
                </a:solidFill>
                <a:latin typeface="Courier New"/>
              </a:rPr>
              <a:t>  &lt;para&gt;Eric&lt;/para&gt;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E2E8F0"/>
                </a:solidFill>
                <a:latin typeface="Courier New"/>
              </a:rPr>
              <a:t>  &lt;encabezado&gt;Recordatorio&lt;/encabezado&gt;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E2E8F0"/>
                </a:solidFill>
                <a:latin typeface="Courier New"/>
              </a:rPr>
              <a:t>  &lt;cuerpo&gt;...no va a hacer que apruebes solo!&lt;/cuerpo&gt;</a:t>
            </a:r>
          </a:p>
          <a:p>
            <a:pPr algn="l"/>
            <a:r>
              <a:rPr sz="1300" b="0" i="0">
                <a:solidFill>
                  <a:srgbClr val="5EEAD4"/>
                </a:solidFill>
                <a:latin typeface="Courier New"/>
              </a:rPr>
              <a:t>&lt;/nota&gt;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800600"/>
            <a:ext cx="57607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64748B"/>
                </a:solidFill>
                <a:latin typeface="Calibri"/>
              </a:rPr>
              <a:t>Un documento XML se organiza como un árbol: un único elemento raíz que contiene otros elementos anidados.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828800"/>
            <a:ext cx="521208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50" b="0" i="0">
                <a:solidFill>
                  <a:srgbClr val="1E293B"/>
                </a:solidFill>
                <a:latin typeface="Calibri"/>
              </a:rPr>
              <a:t>Elemento raíz: engloba a todos los demás. Solo puede haber uno.</a:t>
            </a:r>
          </a:p>
          <a:p>
            <a:pPr algn="l">
              <a:spcAft>
                <a:spcPts val="800"/>
              </a:spcAft>
            </a:pPr>
            <a:r>
              <a:rPr sz="1350" b="0" i="0">
                <a:solidFill>
                  <a:srgbClr val="1E293B"/>
                </a:solidFill>
                <a:latin typeface="Calibri"/>
              </a:rPr>
              <a:t>Atributos: nombre="valor" dentro de la etiqueta de apertura.</a:t>
            </a:r>
          </a:p>
          <a:p>
            <a:pPr algn="l"/>
            <a:r>
              <a:rPr sz="1350" b="0" i="0">
                <a:solidFill>
                  <a:srgbClr val="1E293B"/>
                </a:solidFill>
                <a:latin typeface="Calibri"/>
              </a:rPr>
              <a:t>Elemento vacío: autocierre con &lt;linea/&gt;.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3931920"/>
            <a:ext cx="5212080" cy="1188720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20840" y="4114800"/>
            <a:ext cx="47548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E2E8F0"/>
                </a:solidFill>
                <a:latin typeface="Courier New"/>
              </a:rPr>
              <a:t>&lt;persona edad="20" ciudad="Valencia"&gt;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E2E8F0"/>
                </a:solidFill>
                <a:latin typeface="Courier New"/>
              </a:rPr>
              <a:t>  Claudia</a:t>
            </a:r>
          </a:p>
          <a:p>
            <a:pPr algn="l"/>
            <a:r>
              <a:rPr sz="1300" b="0" i="0">
                <a:solidFill>
                  <a:srgbClr val="E2E8F0"/>
                </a:solidFill>
                <a:latin typeface="Courier New"/>
              </a:rPr>
              <a:t>&lt;/persona&gt;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5349240"/>
            <a:ext cx="5212080" cy="9144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20840" y="5495544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F766E"/>
                </a:solidFill>
                <a:latin typeface="Calibri"/>
              </a:rPr>
              <a:t>📡  Sigue vigente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5879592"/>
            <a:ext cx="4754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Esta misma estructura de árbol la usan a diario Office, SVG y los feeds RSS.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6 · Sintaxis XML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UD01 · Lenguajes de Marcas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457200"/>
            <a:ext cx="502920" cy="502920"/>
          </a:xfrm>
          <a:prstGeom prst="roundRect">
            <a:avLst>
              <a:gd name="adj" fmla="val 28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ourier New"/>
              </a:rPr>
              <a:t>&lt;/&gt;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389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F766E"/>
                </a:solidFill>
                <a:latin typeface="Calibri"/>
              </a:rPr>
              <a:t>CA 1H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E293B"/>
                </a:solidFill>
                <a:latin typeface="Cambria"/>
              </a:rPr>
              <a:t>Documentos XML bien formados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74519"/>
            <a:ext cx="5486400" cy="77724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" y="2057400"/>
            <a:ext cx="411480" cy="411480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0574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F172A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19" y="1874519"/>
            <a:ext cx="45720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Un único elemento raíz.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874519"/>
            <a:ext cx="5486400" cy="77724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00800" y="2057400"/>
            <a:ext cx="411480" cy="411480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0574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F172A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1874519"/>
            <a:ext cx="45720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Toda etiqueta abierta debe cerrarse.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788920"/>
            <a:ext cx="5486400" cy="77724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0080" y="2971800"/>
            <a:ext cx="411480" cy="411480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9718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F172A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19" y="2788920"/>
            <a:ext cx="45720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El anidamiento no se puede cruzar.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2788920"/>
            <a:ext cx="5486400" cy="77724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00800" y="2971800"/>
            <a:ext cx="411480" cy="411480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29718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F172A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2788920"/>
            <a:ext cx="45720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Atributos siempre entre comillas.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703320"/>
            <a:ext cx="5486400" cy="77724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0080" y="3886200"/>
            <a:ext cx="411480" cy="411480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8862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F172A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19" y="3703320"/>
            <a:ext cx="45720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Distingue mayúsculas de minúsculas.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3703320"/>
            <a:ext cx="5486400" cy="77724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00800" y="3886200"/>
            <a:ext cx="411480" cy="411480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38862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F172A"/>
                </a:solidFill>
                <a:latin typeface="Calibri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9440" y="3703320"/>
            <a:ext cx="45720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Elementos vacíos: &lt;linea/&gt; o &lt;linea&gt;&lt;/linea&gt;.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4937760"/>
            <a:ext cx="11247120" cy="141732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5084064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D97706"/>
                </a:solidFill>
                <a:latin typeface="Calibri"/>
              </a:rPr>
              <a:t>⏳  El intento histórico: XHTML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5468112"/>
            <a:ext cx="10789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A finales de los 90, XHTML reescribió HTML para forzar estas mismas reglas de buen formado. HTML5 absorbió parte de esa disciplina sin exigir la sintaxis estricta, y hoy XHTML apenas se usa en desarrollo nuevo.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7 · Buen formado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UD01 · Lenguajes de Marcas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457200"/>
            <a:ext cx="502920" cy="502920"/>
          </a:xfrm>
          <a:prstGeom prst="roundRect">
            <a:avLst>
              <a:gd name="adj" fmla="val 28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ourier New"/>
              </a:rPr>
              <a:t>&lt;/&gt;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389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F766E"/>
                </a:solidFill>
                <a:latin typeface="Calibri"/>
              </a:rPr>
              <a:t>CA 1I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E293B"/>
                </a:solidFill>
                <a:latin typeface="Cambria"/>
              </a:rPr>
              <a:t>Espacios de nombres en XML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50" b="1" i="0">
                <a:solidFill>
                  <a:srgbClr val="1E293B"/>
                </a:solidFill>
                <a:latin typeface="Cambria"/>
              </a:rPr>
              <a:t>El problema: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40280"/>
            <a:ext cx="56692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Cualquiera puede inventar sus propias etiquetas en XML. Un feed RSS solo define etiquetas genéricas, pero las apps de podcasts necesitan datos que el RSS estándar no tiene: duración, categoría, portada...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840480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50" b="1" i="0">
                <a:solidFill>
                  <a:srgbClr val="1E293B"/>
                </a:solidFill>
                <a:latin typeface="Cambria"/>
              </a:rPr>
              <a:t>La solución: prefijos + URI únicas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251960"/>
            <a:ext cx="56692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250" b="0" i="0">
                <a:solidFill>
                  <a:srgbClr val="1E293B"/>
                </a:solidFill>
                <a:latin typeface="Calibri"/>
              </a:rPr>
              <a:t>xmlns:prefijo="URI" define un prefijo asociado a una URI — no un enlace real, solo un identificador único.</a:t>
            </a:r>
          </a:p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Cada etiqueta se referencia como prefijo:etiqueta, sin ambigüedad.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1828800"/>
            <a:ext cx="5212080" cy="2331720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20840" y="2011680"/>
            <a:ext cx="4754880" cy="196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E2E8F0"/>
                </a:solidFill>
                <a:latin typeface="Courier New"/>
              </a:rPr>
              <a:t>&lt;rss version="2.0"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E2E8F0"/>
                </a:solidFill>
                <a:latin typeface="Courier New"/>
              </a:rPr>
              <a:t>     xmlns:itunes="...podcast-1.0.dtd"&gt;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E2E8F0"/>
                </a:solidFill>
                <a:latin typeface="Courier New"/>
              </a:rPr>
              <a:t>  &lt;channel&gt;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E2E8F0"/>
                </a:solidFill>
                <a:latin typeface="Courier New"/>
              </a:rPr>
              <a:t>    &lt;title&gt;Podcast de Informática&lt;/title&gt;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5EEAD4"/>
                </a:solidFill>
                <a:latin typeface="Courier New"/>
              </a:rPr>
              <a:t>    &lt;itunes:author&gt;Noel Marco&lt;/itunes:author&gt;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E2E8F0"/>
                </a:solidFill>
                <a:latin typeface="Courier New"/>
              </a:rPr>
              <a:t>    &lt;item&gt;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5EEAD4"/>
                </a:solidFill>
                <a:latin typeface="Courier New"/>
              </a:rPr>
              <a:t>      &lt;itunes:duration&gt;32:15&lt;/itunes:duration&gt;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E2E8F0"/>
                </a:solidFill>
                <a:latin typeface="Courier New"/>
              </a:rPr>
              <a:t>    &lt;/item&gt;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E2E8F0"/>
                </a:solidFill>
                <a:latin typeface="Courier New"/>
              </a:rPr>
              <a:t>  &lt;/channel&gt;</a:t>
            </a:r>
          </a:p>
          <a:p>
            <a:pPr algn="l"/>
            <a:r>
              <a:rPr sz="1100" b="0" i="0">
                <a:solidFill>
                  <a:srgbClr val="E2E8F0"/>
                </a:solidFill>
                <a:latin typeface="Courier New"/>
              </a:rPr>
              <a:t>&lt;/rss&gt;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4343400"/>
            <a:ext cx="5212080" cy="173736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20840" y="4489704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F766E"/>
                </a:solidFill>
                <a:latin typeface="Calibri"/>
              </a:rPr>
              <a:t>📡  Sigue siendo necesario hoy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4873752"/>
            <a:ext cx="475488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Al insertar &lt;svg&gt; en HTML5, al mezclar vocabularios en un feed (como arriba), o por dentro de los archivos de Office (.docx/.xlsx/.pptx).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8 · Espacios de nombres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UD01 · Lenguajes de Marcas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457200"/>
            <a:ext cx="502920" cy="502920"/>
          </a:xfrm>
          <a:prstGeom prst="roundRect">
            <a:avLst>
              <a:gd name="adj" fmla="val 28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F172A"/>
                </a:solidFill>
                <a:latin typeface="Courier New"/>
              </a:rPr>
              <a:t>&lt;/&gt;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389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DD4BF"/>
                </a:solidFill>
                <a:latin typeface="Calibri"/>
              </a:rPr>
              <a:t>RESUMEN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8FAFC"/>
                </a:solidFill>
                <a:latin typeface="Cambria"/>
              </a:rPr>
              <a:t>Resumen de la unidad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965960"/>
            <a:ext cx="5486400" cy="914399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" y="2194560"/>
            <a:ext cx="457200" cy="457200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9456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0F172A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039112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8FAFC"/>
                </a:solidFill>
                <a:latin typeface="Cambria"/>
              </a:rPr>
              <a:t>¿Qué es un LM?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395728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Marcas interpretadas por un user-agent. No es programación.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017520"/>
            <a:ext cx="5486400" cy="914399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0080" y="3246120"/>
            <a:ext cx="457200" cy="457200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4612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0F172A"/>
                </a:solidFill>
                <a:latin typeface="Cambr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090672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8FAFC"/>
                </a:solidFill>
                <a:latin typeface="Cambria"/>
              </a:rPr>
              <a:t>Ventajas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447287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Texto plano, independencia, intercambio, flexibilidad.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069079"/>
            <a:ext cx="5486400" cy="914399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0080" y="4297679"/>
            <a:ext cx="457200" cy="457200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297679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0F172A"/>
                </a:solidFill>
                <a:latin typeface="Cambri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142231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8FAFC"/>
                </a:solidFill>
                <a:latin typeface="Cambria"/>
              </a:rPr>
              <a:t>Origen y clasificación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4498847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GML → SGML → XML / HTML. Otros LM: LaTeX, JSON, Markdown...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5120640"/>
            <a:ext cx="5486400" cy="914399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0080" y="5349240"/>
            <a:ext cx="457200" cy="457200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53492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0F172A"/>
                </a:solidFill>
                <a:latin typeface="Cambria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5193792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8FAFC"/>
                </a:solidFill>
                <a:latin typeface="Cambria"/>
              </a:rPr>
              <a:t>Características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5550407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Texto plano, integración, independencia, especialización, flexibilidad.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1965960"/>
            <a:ext cx="5486400" cy="914399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00800" y="2194560"/>
            <a:ext cx="457200" cy="457200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219456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0F172A"/>
                </a:solidFill>
                <a:latin typeface="Cambria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95159" y="2039112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8FAFC"/>
                </a:solidFill>
                <a:latin typeface="Cambria"/>
              </a:rPr>
              <a:t>XML de propósito general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95159" y="2395728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Metalenguaje, estructurado, validable. SVG, MathML, SMIL, SSML.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0" y="3017520"/>
            <a:ext cx="5486400" cy="914399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400800" y="3246120"/>
            <a:ext cx="457200" cy="457200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324612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0F172A"/>
                </a:solidFill>
                <a:latin typeface="Cambria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95159" y="3090672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8FAFC"/>
                </a:solidFill>
                <a:latin typeface="Cambria"/>
              </a:rPr>
              <a:t>Estructura y sintaxis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95159" y="3447287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Declaración, raíz única, anidamiento, atributos, elemento vacío.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17920" y="4069079"/>
            <a:ext cx="5486400" cy="914399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400800" y="4297679"/>
            <a:ext cx="457200" cy="457200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0" y="4297679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0F172A"/>
                </a:solidFill>
                <a:latin typeface="Cambria"/>
              </a:rPr>
              <a:t>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95159" y="4142231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8FAFC"/>
                </a:solidFill>
                <a:latin typeface="Cambria"/>
              </a:rPr>
              <a:t>Bien formado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95159" y="4498847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6 reglas obligatorias — si fallan, el procesador da error.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17920" y="5120640"/>
            <a:ext cx="5486400" cy="914399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400800" y="5349240"/>
            <a:ext cx="457200" cy="457200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0" y="53492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0F172A"/>
                </a:solidFill>
                <a:latin typeface="Cambria"/>
              </a:rPr>
              <a:t>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95159" y="5193792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8FAFC"/>
                </a:solidFill>
                <a:latin typeface="Cambria"/>
              </a:rPr>
              <a:t>Espacios de nombres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95159" y="5550407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xmlns:prefijo="URI" resuelve choques entre vocabularios.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9 · Resumen de la unidad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UD01 · Lenguajes de Marcas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548640"/>
            <a:ext cx="502920" cy="502920"/>
          </a:xfrm>
          <a:prstGeom prst="roundRect">
            <a:avLst>
              <a:gd name="adj" fmla="val 28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F172A"/>
                </a:solidFill>
                <a:latin typeface="Courier New"/>
              </a:rPr>
              <a:t>&lt;/&gt;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530352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DD4BF"/>
                </a:solidFill>
                <a:latin typeface="Calibri"/>
              </a:rPr>
              <a:t>Para saber más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F8FAFC"/>
                </a:solidFill>
                <a:latin typeface="Cambria"/>
              </a:rPr>
              <a:t>Ya sabes reconocer un lenguaje de marcas, clasificarlo, y escribir XML bien formado con espacios de nombres.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060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2DD4BF"/>
                </a:solidFill>
                <a:latin typeface="Calibri"/>
              </a:rPr>
              <a:t>RA1 · CA 1a-1i cubiertos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200400"/>
            <a:ext cx="10607040" cy="219456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34290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8FAFC"/>
                </a:solidFill>
                <a:latin typeface="Cambria"/>
              </a:rPr>
              <a:t>Para saber más (opcional, no evaluable)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93192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CBD5E1"/>
                </a:solidFill>
                <a:latin typeface="Calibri"/>
              </a:rPr>
              <a:t>W3Schools — w3schools.com</a:t>
            </a:r>
          </a:p>
          <a:p>
            <a:pPr algn="l"/>
            <a:r>
              <a:rPr sz="1400" b="0" i="0">
                <a:solidFill>
                  <a:srgbClr val="CBD5E1"/>
                </a:solidFill>
                <a:latin typeface="Calibri"/>
              </a:rPr>
              <a:t>HTML Living Standard (WHATWG) — html.spec.whatwg.org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IES Sant Vicent Ferrer — Algemesí · Noel Marco Biendicho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