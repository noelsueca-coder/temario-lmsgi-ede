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0" y="914400"/>
            <a:ext cx="5486400" cy="5029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6000" b="1" i="0">
                <a:solidFill>
                  <a:srgbClr val="1E293B"/>
                </a:solidFill>
                <a:latin typeface="Courier New"/>
              </a:rPr>
              <a:t>&lt;/&gt;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DD4BF"/>
                </a:solidFill>
                <a:latin typeface="Calibri"/>
              </a:rPr>
              <a:t>1R DAW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94A3B8"/>
                </a:solidFill>
                <a:latin typeface="Calibri"/>
              </a:rPr>
              <a:t>PRIMERA CLASE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9601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8FAFC"/>
                </a:solidFill>
                <a:latin typeface="Cambria"/>
              </a:rPr>
              <a:t>Entorns de</a:t>
            </a:r>
          </a:p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8FAFC"/>
                </a:solidFill>
                <a:latin typeface="Cambria"/>
              </a:rPr>
              <a:t>Desenvolupament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CBD5E1"/>
                </a:solidFill>
                <a:latin typeface="Calibri"/>
              </a:rPr>
              <a:t>Módulo 0487 · EDE · 100 horas · Curso 2026-2027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5989320"/>
            <a:ext cx="10515600" cy="0"/>
          </a:xfrm>
          <a:prstGeom prst="line">
            <a:avLst/>
          </a:prstGeom>
          <a:ln w="12700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Noel Marco Biendicho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6126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0487 · EDE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50292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ourier New"/>
              </a:rPr>
              <a:t>&lt;/&gt;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5303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1R DAW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mbria"/>
              </a:rPr>
              <a:t>¿Qué vamos a hacer este curso?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Presentación · Introducción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0487 · EDE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783080"/>
            <a:ext cx="10543032" cy="2286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103120"/>
            <a:ext cx="9811511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64748B"/>
                </a:solidFill>
                <a:latin typeface="Calibri"/>
              </a:rPr>
              <a:t>EDE te da el vocabulario y las herramientas con las que trabajarás durante todo el ciclo: el ciclo de vida del software, los entornos de desarrollo (IDE), el control de versiones con Git, las pruebas y la depuración, y los diagramas con los que se diseña una aplicación antes de programarla.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389120"/>
            <a:ext cx="3361943" cy="13716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572000"/>
            <a:ext cx="2813303" cy="754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F766E"/>
                </a:solidFill>
                <a:latin typeface="Cambria"/>
              </a:rPr>
              <a:t>100 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212079"/>
            <a:ext cx="2813303" cy="4800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de carga lectiva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3504" y="4389120"/>
            <a:ext cx="3361943" cy="13716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7823" y="4572000"/>
            <a:ext cx="2813303" cy="754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F766E"/>
                </a:solidFill>
                <a:latin typeface="Cambria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7823" y="5212079"/>
            <a:ext cx="2813303" cy="4800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resultados de aprendizaje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4047" y="4389120"/>
            <a:ext cx="3361943" cy="13716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8367" y="4572000"/>
            <a:ext cx="2813303" cy="754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F766E"/>
                </a:solidFill>
                <a:latin typeface="Cambria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8367" y="5212079"/>
            <a:ext cx="2813303" cy="4800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unidades de programación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50292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ourier New"/>
              </a:rPr>
              <a:t>&lt;/&gt;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5303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1R DAW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mbria"/>
              </a:rPr>
              <a:t>Lo que sabrás hacer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Presentación · Resultados de aprendizaje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0487 · EDE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783080"/>
            <a:ext cx="3331464" cy="2093976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" y="2011680"/>
            <a:ext cx="457200" cy="45720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0116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  <a:latin typeface="Cambri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606040"/>
            <a:ext cx="2874264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CBD5E1"/>
                </a:solidFill>
                <a:latin typeface="Calibri"/>
              </a:rPr>
              <a:t>Reconocerás los elementos y las fases del desarrollo de un programa, del análisis a la puesta en marcha.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8744" y="1783080"/>
            <a:ext cx="3331464" cy="2093976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57344" y="2011680"/>
            <a:ext cx="457200" cy="45720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57344" y="20116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7344" y="2606040"/>
            <a:ext cx="2874264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CBD5E1"/>
                </a:solidFill>
                <a:latin typeface="Calibri"/>
              </a:rPr>
              <a:t>Evaluarás e instalarás entornos de desarrollo (IDE), personalizándolos y generando ejecutables.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34527" y="1783080"/>
            <a:ext cx="3331464" cy="2093976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63127" y="2011680"/>
            <a:ext cx="457200" cy="45720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3127" y="20116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  <a:latin typeface="Cambr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3127" y="2606040"/>
            <a:ext cx="2874264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CBD5E1"/>
                </a:solidFill>
                <a:latin typeface="Calibri"/>
              </a:rPr>
              <a:t>Verificarás el funcionamiento de tus programas diseñando y ejecutando pruebas.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151376"/>
            <a:ext cx="3331464" cy="2093976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1560" y="4379976"/>
            <a:ext cx="457200" cy="45720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37997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974336"/>
            <a:ext cx="2874264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CBD5E1"/>
                </a:solidFill>
                <a:latin typeface="Calibri"/>
              </a:rPr>
              <a:t>Optimizarás tu código con las herramientas del entorno: refactorización, control de versiones e integración continua.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28744" y="4151376"/>
            <a:ext cx="3331464" cy="2093976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657344" y="4379976"/>
            <a:ext cx="457200" cy="45720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57344" y="437997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  <a:latin typeface="Cambria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57344" y="4974336"/>
            <a:ext cx="2874264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CBD5E1"/>
                </a:solidFill>
                <a:latin typeface="Calibri"/>
              </a:rPr>
              <a:t>Generarás diagramas de clases para diseñar aplicaciones orientadas a objetos.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34527" y="4151376"/>
            <a:ext cx="3331464" cy="2093976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63127" y="4379976"/>
            <a:ext cx="457200" cy="45720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63127" y="437997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  <a:latin typeface="Cambria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3127" y="4974336"/>
            <a:ext cx="2874264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CBD5E1"/>
                </a:solidFill>
                <a:latin typeface="Calibri"/>
              </a:rPr>
              <a:t>Generarás diagramas de comportamiento: casos de uso, actividad y estado.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50292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ourier New"/>
              </a:rPr>
              <a:t>&lt;/&gt;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5303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1R DAW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mbria"/>
              </a:rPr>
              <a:t>Cómo se organiza el curso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Presentación · Temporización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0487 · EDE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1783080"/>
          <a:ext cx="10543032" cy="2478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7159752"/>
                <a:gridCol w="155448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8FAFC"/>
                          </a:solidFill>
                          <a:latin typeface="Calibri"/>
                        </a:rPr>
                        <a:t>UD</a:t>
                      </a:r>
                    </a:p>
                  </a:txBody>
                  <a:tcPr marL="73152" marR="73152" marT="36576" marB="36576" anchor="ctr">
                    <a:solidFill>
                      <a:srgbClr val="0F172A"/>
                    </a:solidFill>
                    <a:lnL w="6350" cap="flat">
                      <a:solidFill>
                        <a:srgbClr val="E2E8F0"/>
                      </a:solidFill>
                    </a:lnL>
                    <a:lnR w="6350" cap="flat">
                      <a:solidFill>
                        <a:srgbClr val="E2E8F0"/>
                      </a:solidFill>
                    </a:lnR>
                    <a:lnT w="6350" cap="flat">
                      <a:solidFill>
                        <a:srgbClr val="E2E8F0"/>
                      </a:solidFill>
                    </a:lnT>
                    <a:lnB w="6350" cap="flat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8FAFC"/>
                          </a:solidFill>
                          <a:latin typeface="Calibri"/>
                        </a:rPr>
                        <a:t>Eval.</a:t>
                      </a:r>
                    </a:p>
                  </a:txBody>
                  <a:tcPr marL="73152" marR="73152" marT="36576" marB="36576" anchor="ctr">
                    <a:solidFill>
                      <a:srgbClr val="0F172A"/>
                    </a:solidFill>
                    <a:lnL w="6350" cap="flat">
                      <a:solidFill>
                        <a:srgbClr val="E2E8F0"/>
                      </a:solidFill>
                    </a:lnL>
                    <a:lnR w="6350" cap="flat">
                      <a:solidFill>
                        <a:srgbClr val="E2E8F0"/>
                      </a:solidFill>
                    </a:lnR>
                    <a:lnT w="6350" cap="flat">
                      <a:solidFill>
                        <a:srgbClr val="E2E8F0"/>
                      </a:solidFill>
                    </a:lnT>
                    <a:lnB w="6350" cap="flat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8FAFC"/>
                          </a:solidFill>
                          <a:latin typeface="Calibri"/>
                        </a:rPr>
                        <a:t>Unidad de programación</a:t>
                      </a:r>
                    </a:p>
                  </a:txBody>
                  <a:tcPr marL="73152" marR="73152" marT="36576" marB="36576" anchor="ctr">
                    <a:solidFill>
                      <a:srgbClr val="0F172A"/>
                    </a:solidFill>
                    <a:lnL w="6350" cap="flat">
                      <a:solidFill>
                        <a:srgbClr val="E2E8F0"/>
                      </a:solidFill>
                    </a:lnL>
                    <a:lnR w="6350" cap="flat">
                      <a:solidFill>
                        <a:srgbClr val="E2E8F0"/>
                      </a:solidFill>
                    </a:lnR>
                    <a:lnT w="6350" cap="flat">
                      <a:solidFill>
                        <a:srgbClr val="E2E8F0"/>
                      </a:solidFill>
                    </a:lnT>
                    <a:lnB w="6350" cap="flat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8FAFC"/>
                          </a:solidFill>
                          <a:latin typeface="Calibri"/>
                        </a:rPr>
                        <a:t>Horas</a:t>
                      </a:r>
                    </a:p>
                  </a:txBody>
                  <a:tcPr marL="73152" marR="73152" marT="36576" marB="36576" anchor="ctr">
                    <a:solidFill>
                      <a:srgbClr val="0F172A"/>
                    </a:solidFill>
                    <a:lnL w="6350" cap="flat">
                      <a:solidFill>
                        <a:srgbClr val="E2E8F0"/>
                      </a:solidFill>
                    </a:lnL>
                    <a:lnR w="6350" cap="flat">
                      <a:solidFill>
                        <a:srgbClr val="E2E8F0"/>
                      </a:solidFill>
                    </a:lnR>
                    <a:lnT w="6350" cap="flat">
                      <a:solidFill>
                        <a:srgbClr val="E2E8F0"/>
                      </a:solidFill>
                    </a:lnT>
                    <a:lnB w="6350" cap="flat">
                      <a:solidFill>
                        <a:srgbClr val="E2E8F0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1E293B"/>
                          </a:solidFill>
                          <a:latin typeface="Calibri"/>
                        </a:rPr>
                        <a:t>UD1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>
                      <a:solidFill>
                        <a:srgbClr val="E2E8F0"/>
                      </a:solidFill>
                    </a:lnL>
                    <a:lnR w="6350" cap="flat">
                      <a:solidFill>
                        <a:srgbClr val="E2E8F0"/>
                      </a:solidFill>
                    </a:lnR>
                    <a:lnT w="6350" cap="flat">
                      <a:solidFill>
                        <a:srgbClr val="E2E8F0"/>
                      </a:solidFill>
                    </a:lnT>
                    <a:lnB w="6350" cap="flat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1E293B"/>
                          </a:solidFill>
                          <a:latin typeface="Calibri"/>
                        </a:rPr>
                        <a:t>1ª-2ª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>
                      <a:solidFill>
                        <a:srgbClr val="E2E8F0"/>
                      </a:solidFill>
                    </a:lnL>
                    <a:lnR w="6350" cap="flat">
                      <a:solidFill>
                        <a:srgbClr val="E2E8F0"/>
                      </a:solidFill>
                    </a:lnR>
                    <a:lnT w="6350" cap="flat">
                      <a:solidFill>
                        <a:srgbClr val="E2E8F0"/>
                      </a:solidFill>
                    </a:lnT>
                    <a:lnB w="6350" cap="flat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1E293B"/>
                          </a:solidFill>
                          <a:latin typeface="Calibri"/>
                        </a:rPr>
                        <a:t>Desarrollo del software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>
                      <a:solidFill>
                        <a:srgbClr val="E2E8F0"/>
                      </a:solidFill>
                    </a:lnL>
                    <a:lnR w="6350" cap="flat">
                      <a:solidFill>
                        <a:srgbClr val="E2E8F0"/>
                      </a:solidFill>
                    </a:lnR>
                    <a:lnT w="6350" cap="flat">
                      <a:solidFill>
                        <a:srgbClr val="E2E8F0"/>
                      </a:solidFill>
                    </a:lnT>
                    <a:lnB w="6350" cap="flat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1E293B"/>
                          </a:solidFill>
                          <a:latin typeface="Calibri"/>
                        </a:rPr>
                        <a:t>16 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>
                      <a:solidFill>
                        <a:srgbClr val="E2E8F0"/>
                      </a:solidFill>
                    </a:lnL>
                    <a:lnR w="6350" cap="flat">
                      <a:solidFill>
                        <a:srgbClr val="E2E8F0"/>
                      </a:solidFill>
                    </a:lnR>
                    <a:lnT w="6350" cap="flat">
                      <a:solidFill>
                        <a:srgbClr val="E2E8F0"/>
                      </a:solidFill>
                    </a:lnT>
                    <a:lnB w="6350" cap="flat">
                      <a:solidFill>
                        <a:srgbClr val="E2E8F0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1E293B"/>
                          </a:solidFill>
                          <a:latin typeface="Calibri"/>
                        </a:rPr>
                        <a:t>UD2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  <a:lnL w="6350" cap="flat">
                      <a:solidFill>
                        <a:srgbClr val="E2E8F0"/>
                      </a:solidFill>
                    </a:lnL>
                    <a:lnR w="6350" cap="flat">
                      <a:solidFill>
                        <a:srgbClr val="E2E8F0"/>
                      </a:solidFill>
                    </a:lnR>
                    <a:lnT w="6350" cap="flat">
                      <a:solidFill>
                        <a:srgbClr val="E2E8F0"/>
                      </a:solidFill>
                    </a:lnT>
                    <a:lnB w="6350" cap="flat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1E293B"/>
                          </a:solidFill>
                          <a:latin typeface="Calibri"/>
                        </a:rPr>
                        <a:t>1ª-2ª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  <a:lnL w="6350" cap="flat">
                      <a:solidFill>
                        <a:srgbClr val="E2E8F0"/>
                      </a:solidFill>
                    </a:lnL>
                    <a:lnR w="6350" cap="flat">
                      <a:solidFill>
                        <a:srgbClr val="E2E8F0"/>
                      </a:solidFill>
                    </a:lnR>
                    <a:lnT w="6350" cap="flat">
                      <a:solidFill>
                        <a:srgbClr val="E2E8F0"/>
                      </a:solidFill>
                    </a:lnT>
                    <a:lnB w="6350" cap="flat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1E293B"/>
                          </a:solidFill>
                          <a:latin typeface="Calibri"/>
                        </a:rPr>
                        <a:t>Introducción a las herramientas de desarrollo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  <a:lnL w="6350" cap="flat">
                      <a:solidFill>
                        <a:srgbClr val="E2E8F0"/>
                      </a:solidFill>
                    </a:lnL>
                    <a:lnR w="6350" cap="flat">
                      <a:solidFill>
                        <a:srgbClr val="E2E8F0"/>
                      </a:solidFill>
                    </a:lnR>
                    <a:lnT w="6350" cap="flat">
                      <a:solidFill>
                        <a:srgbClr val="E2E8F0"/>
                      </a:solidFill>
                    </a:lnT>
                    <a:lnB w="6350" cap="flat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1E293B"/>
                          </a:solidFill>
                          <a:latin typeface="Calibri"/>
                        </a:rPr>
                        <a:t>12 h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  <a:lnL w="6350" cap="flat">
                      <a:solidFill>
                        <a:srgbClr val="E2E8F0"/>
                      </a:solidFill>
                    </a:lnL>
                    <a:lnR w="6350" cap="flat">
                      <a:solidFill>
                        <a:srgbClr val="E2E8F0"/>
                      </a:solidFill>
                    </a:lnR>
                    <a:lnT w="6350" cap="flat">
                      <a:solidFill>
                        <a:srgbClr val="E2E8F0"/>
                      </a:solidFill>
                    </a:lnT>
                    <a:lnB w="6350" cap="flat">
                      <a:solidFill>
                        <a:srgbClr val="E2E8F0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1E293B"/>
                          </a:solidFill>
                          <a:latin typeface="Calibri"/>
                        </a:rPr>
                        <a:t>UD3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>
                      <a:solidFill>
                        <a:srgbClr val="E2E8F0"/>
                      </a:solidFill>
                    </a:lnL>
                    <a:lnR w="6350" cap="flat">
                      <a:solidFill>
                        <a:srgbClr val="E2E8F0"/>
                      </a:solidFill>
                    </a:lnR>
                    <a:lnT w="6350" cap="flat">
                      <a:solidFill>
                        <a:srgbClr val="E2E8F0"/>
                      </a:solidFill>
                    </a:lnT>
                    <a:lnB w="6350" cap="flat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1E293B"/>
                          </a:solidFill>
                          <a:latin typeface="Calibri"/>
                        </a:rPr>
                        <a:t>1ª-2ª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>
                      <a:solidFill>
                        <a:srgbClr val="E2E8F0"/>
                      </a:solidFill>
                    </a:lnL>
                    <a:lnR w="6350" cap="flat">
                      <a:solidFill>
                        <a:srgbClr val="E2E8F0"/>
                      </a:solidFill>
                    </a:lnR>
                    <a:lnT w="6350" cap="flat">
                      <a:solidFill>
                        <a:srgbClr val="E2E8F0"/>
                      </a:solidFill>
                    </a:lnT>
                    <a:lnB w="6350" cap="flat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1E293B"/>
                          </a:solidFill>
                          <a:latin typeface="Calibri"/>
                        </a:rPr>
                        <a:t>Control de versiones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>
                      <a:solidFill>
                        <a:srgbClr val="E2E8F0"/>
                      </a:solidFill>
                    </a:lnL>
                    <a:lnR w="6350" cap="flat">
                      <a:solidFill>
                        <a:srgbClr val="E2E8F0"/>
                      </a:solidFill>
                    </a:lnR>
                    <a:lnT w="6350" cap="flat">
                      <a:solidFill>
                        <a:srgbClr val="E2E8F0"/>
                      </a:solidFill>
                    </a:lnT>
                    <a:lnB w="6350" cap="flat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1E293B"/>
                          </a:solidFill>
                          <a:latin typeface="Calibri"/>
                        </a:rPr>
                        <a:t>12 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>
                      <a:solidFill>
                        <a:srgbClr val="E2E8F0"/>
                      </a:solidFill>
                    </a:lnL>
                    <a:lnR w="6350" cap="flat">
                      <a:solidFill>
                        <a:srgbClr val="E2E8F0"/>
                      </a:solidFill>
                    </a:lnR>
                    <a:lnT w="6350" cap="flat">
                      <a:solidFill>
                        <a:srgbClr val="E2E8F0"/>
                      </a:solidFill>
                    </a:lnT>
                    <a:lnB w="6350" cap="flat">
                      <a:solidFill>
                        <a:srgbClr val="E2E8F0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1E293B"/>
                          </a:solidFill>
                          <a:latin typeface="Calibri"/>
                        </a:rPr>
                        <a:t>UD4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  <a:lnL w="6350" cap="flat">
                      <a:solidFill>
                        <a:srgbClr val="E2E8F0"/>
                      </a:solidFill>
                    </a:lnL>
                    <a:lnR w="6350" cap="flat">
                      <a:solidFill>
                        <a:srgbClr val="E2E8F0"/>
                      </a:solidFill>
                    </a:lnR>
                    <a:lnT w="6350" cap="flat">
                      <a:solidFill>
                        <a:srgbClr val="E2E8F0"/>
                      </a:solidFill>
                    </a:lnT>
                    <a:lnB w="6350" cap="flat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1E293B"/>
                          </a:solidFill>
                          <a:latin typeface="Calibri"/>
                        </a:rPr>
                        <a:t>1ª-2ª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  <a:lnL w="6350" cap="flat">
                      <a:solidFill>
                        <a:srgbClr val="E2E8F0"/>
                      </a:solidFill>
                    </a:lnL>
                    <a:lnR w="6350" cap="flat">
                      <a:solidFill>
                        <a:srgbClr val="E2E8F0"/>
                      </a:solidFill>
                    </a:lnR>
                    <a:lnT w="6350" cap="flat">
                      <a:solidFill>
                        <a:srgbClr val="E2E8F0"/>
                      </a:solidFill>
                    </a:lnT>
                    <a:lnB w="6350" cap="flat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1E293B"/>
                          </a:solidFill>
                          <a:latin typeface="Calibri"/>
                        </a:rPr>
                        <a:t>Análisis y diseño de aplicaciones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  <a:lnL w="6350" cap="flat">
                      <a:solidFill>
                        <a:srgbClr val="E2E8F0"/>
                      </a:solidFill>
                    </a:lnL>
                    <a:lnR w="6350" cap="flat">
                      <a:solidFill>
                        <a:srgbClr val="E2E8F0"/>
                      </a:solidFill>
                    </a:lnR>
                    <a:lnT w="6350" cap="flat">
                      <a:solidFill>
                        <a:srgbClr val="E2E8F0"/>
                      </a:solidFill>
                    </a:lnT>
                    <a:lnB w="6350" cap="flat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1E293B"/>
                          </a:solidFill>
                          <a:latin typeface="Calibri"/>
                        </a:rPr>
                        <a:t>20 h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  <a:lnL w="6350" cap="flat">
                      <a:solidFill>
                        <a:srgbClr val="E2E8F0"/>
                      </a:solidFill>
                    </a:lnL>
                    <a:lnR w="6350" cap="flat">
                      <a:solidFill>
                        <a:srgbClr val="E2E8F0"/>
                      </a:solidFill>
                    </a:lnR>
                    <a:lnT w="6350" cap="flat">
                      <a:solidFill>
                        <a:srgbClr val="E2E8F0"/>
                      </a:solidFill>
                    </a:lnT>
                    <a:lnB w="6350" cap="flat">
                      <a:solidFill>
                        <a:srgbClr val="E2E8F0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1E293B"/>
                          </a:solidFill>
                          <a:latin typeface="Calibri"/>
                        </a:rPr>
                        <a:t>UD5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>
                      <a:solidFill>
                        <a:srgbClr val="E2E8F0"/>
                      </a:solidFill>
                    </a:lnL>
                    <a:lnR w="6350" cap="flat">
                      <a:solidFill>
                        <a:srgbClr val="E2E8F0"/>
                      </a:solidFill>
                    </a:lnR>
                    <a:lnT w="6350" cap="flat">
                      <a:solidFill>
                        <a:srgbClr val="E2E8F0"/>
                      </a:solidFill>
                    </a:lnT>
                    <a:lnB w="6350" cap="flat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1E293B"/>
                          </a:solidFill>
                          <a:latin typeface="Calibri"/>
                        </a:rPr>
                        <a:t>1ª-2ª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>
                      <a:solidFill>
                        <a:srgbClr val="E2E8F0"/>
                      </a:solidFill>
                    </a:lnL>
                    <a:lnR w="6350" cap="flat">
                      <a:solidFill>
                        <a:srgbClr val="E2E8F0"/>
                      </a:solidFill>
                    </a:lnR>
                    <a:lnT w="6350" cap="flat">
                      <a:solidFill>
                        <a:srgbClr val="E2E8F0"/>
                      </a:solidFill>
                    </a:lnT>
                    <a:lnB w="6350" cap="flat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1E293B"/>
                          </a:solidFill>
                          <a:latin typeface="Calibri"/>
                        </a:rPr>
                        <a:t>Pruebas y depuración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>
                      <a:solidFill>
                        <a:srgbClr val="E2E8F0"/>
                      </a:solidFill>
                    </a:lnL>
                    <a:lnR w="6350" cap="flat">
                      <a:solidFill>
                        <a:srgbClr val="E2E8F0"/>
                      </a:solidFill>
                    </a:lnR>
                    <a:lnT w="6350" cap="flat">
                      <a:solidFill>
                        <a:srgbClr val="E2E8F0"/>
                      </a:solidFill>
                    </a:lnT>
                    <a:lnB w="6350" cap="flat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1E293B"/>
                          </a:solidFill>
                          <a:latin typeface="Calibri"/>
                        </a:rPr>
                        <a:t>14 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>
                      <a:solidFill>
                        <a:srgbClr val="E2E8F0"/>
                      </a:solidFill>
                    </a:lnL>
                    <a:lnR w="6350" cap="flat">
                      <a:solidFill>
                        <a:srgbClr val="E2E8F0"/>
                      </a:solidFill>
                    </a:lnR>
                    <a:lnT w="6350" cap="flat">
                      <a:solidFill>
                        <a:srgbClr val="E2E8F0"/>
                      </a:solidFill>
                    </a:lnT>
                    <a:lnB w="6350" cap="flat">
                      <a:solidFill>
                        <a:srgbClr val="E2E8F0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1E293B"/>
                          </a:solidFill>
                          <a:latin typeface="Calibri"/>
                        </a:rPr>
                        <a:t>UD6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  <a:lnL w="6350" cap="flat">
                      <a:solidFill>
                        <a:srgbClr val="E2E8F0"/>
                      </a:solidFill>
                    </a:lnL>
                    <a:lnR w="6350" cap="flat">
                      <a:solidFill>
                        <a:srgbClr val="E2E8F0"/>
                      </a:solidFill>
                    </a:lnR>
                    <a:lnT w="6350" cap="flat">
                      <a:solidFill>
                        <a:srgbClr val="E2E8F0"/>
                      </a:solidFill>
                    </a:lnT>
                    <a:lnB w="6350" cap="flat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1E293B"/>
                          </a:solidFill>
                          <a:latin typeface="Calibri"/>
                        </a:rPr>
                        <a:t>3ª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  <a:lnL w="6350" cap="flat">
                      <a:solidFill>
                        <a:srgbClr val="E2E8F0"/>
                      </a:solidFill>
                    </a:lnL>
                    <a:lnR w="6350" cap="flat">
                      <a:solidFill>
                        <a:srgbClr val="E2E8F0"/>
                      </a:solidFill>
                    </a:lnR>
                    <a:lnT w="6350" cap="flat">
                      <a:solidFill>
                        <a:srgbClr val="E2E8F0"/>
                      </a:solidFill>
                    </a:lnT>
                    <a:lnB w="6350" cap="flat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1E293B"/>
                          </a:solidFill>
                          <a:latin typeface="Calibri"/>
                        </a:rPr>
                        <a:t>Gestión de proyectos informáticos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  <a:lnL w="6350" cap="flat">
                      <a:solidFill>
                        <a:srgbClr val="E2E8F0"/>
                      </a:solidFill>
                    </a:lnL>
                    <a:lnR w="6350" cap="flat">
                      <a:solidFill>
                        <a:srgbClr val="E2E8F0"/>
                      </a:solidFill>
                    </a:lnR>
                    <a:lnT w="6350" cap="flat">
                      <a:solidFill>
                        <a:srgbClr val="E2E8F0"/>
                      </a:solidFill>
                    </a:lnT>
                    <a:lnB w="6350" cap="flat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1E293B"/>
                          </a:solidFill>
                          <a:latin typeface="Calibri"/>
                        </a:rPr>
                        <a:t>10 h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  <a:lnL w="6350" cap="flat">
                      <a:solidFill>
                        <a:srgbClr val="E2E8F0"/>
                      </a:solidFill>
                    </a:lnL>
                    <a:lnR w="6350" cap="flat">
                      <a:solidFill>
                        <a:srgbClr val="E2E8F0"/>
                      </a:solidFill>
                    </a:lnR>
                    <a:lnT w="6350" cap="flat">
                      <a:solidFill>
                        <a:srgbClr val="E2E8F0"/>
                      </a:solidFill>
                    </a:lnT>
                    <a:lnB w="6350" cap="flat">
                      <a:solidFill>
                        <a:srgbClr val="E2E8F0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1E293B"/>
                          </a:solidFill>
                          <a:latin typeface="Calibri"/>
                        </a:rPr>
                        <a:t>UD7</a:t>
                      </a:r>
                    </a:p>
                  </a:txBody>
                  <a:tcPr marL="73152" marR="73152" marT="36576" marB="36576" anchor="ctr">
                    <a:solidFill>
                      <a:srgbClr val="FEF3C7"/>
                    </a:solidFill>
                    <a:lnL w="6350" cap="flat">
                      <a:solidFill>
                        <a:srgbClr val="E2E8F0"/>
                      </a:solidFill>
                    </a:lnL>
                    <a:lnR w="6350" cap="flat">
                      <a:solidFill>
                        <a:srgbClr val="E2E8F0"/>
                      </a:solidFill>
                    </a:lnR>
                    <a:lnT w="6350" cap="flat">
                      <a:solidFill>
                        <a:srgbClr val="E2E8F0"/>
                      </a:solidFill>
                    </a:lnT>
                    <a:lnB w="6350" cap="flat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1E293B"/>
                          </a:solidFill>
                          <a:latin typeface="Calibri"/>
                        </a:rPr>
                        <a:t>3ª</a:t>
                      </a:r>
                    </a:p>
                  </a:txBody>
                  <a:tcPr marL="73152" marR="73152" marT="36576" marB="36576" anchor="ctr">
                    <a:solidFill>
                      <a:srgbClr val="FEF3C7"/>
                    </a:solidFill>
                    <a:lnL w="6350" cap="flat">
                      <a:solidFill>
                        <a:srgbClr val="E2E8F0"/>
                      </a:solidFill>
                    </a:lnL>
                    <a:lnR w="6350" cap="flat">
                      <a:solidFill>
                        <a:srgbClr val="E2E8F0"/>
                      </a:solidFill>
                    </a:lnR>
                    <a:lnT w="6350" cap="flat">
                      <a:solidFill>
                        <a:srgbClr val="E2E8F0"/>
                      </a:solidFill>
                    </a:lnT>
                    <a:lnB w="6350" cap="flat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1E293B"/>
                          </a:solidFill>
                          <a:latin typeface="Calibri"/>
                        </a:rPr>
                        <a:t>Optimización y documentación (FCT)</a:t>
                      </a:r>
                    </a:p>
                  </a:txBody>
                  <a:tcPr marL="73152" marR="73152" marT="36576" marB="36576" anchor="ctr">
                    <a:solidFill>
                      <a:srgbClr val="FEF3C7"/>
                    </a:solidFill>
                    <a:lnL w="6350" cap="flat">
                      <a:solidFill>
                        <a:srgbClr val="E2E8F0"/>
                      </a:solidFill>
                    </a:lnL>
                    <a:lnR w="6350" cap="flat">
                      <a:solidFill>
                        <a:srgbClr val="E2E8F0"/>
                      </a:solidFill>
                    </a:lnR>
                    <a:lnT w="6350" cap="flat">
                      <a:solidFill>
                        <a:srgbClr val="E2E8F0"/>
                      </a:solidFill>
                    </a:lnT>
                    <a:lnB w="6350" cap="flat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1E293B"/>
                          </a:solidFill>
                          <a:latin typeface="Calibri"/>
                        </a:rPr>
                        <a:t>16 h</a:t>
                      </a:r>
                    </a:p>
                  </a:txBody>
                  <a:tcPr marL="73152" marR="73152" marT="36576" marB="36576" anchor="ctr">
                    <a:solidFill>
                      <a:srgbClr val="FEF3C7"/>
                    </a:solidFill>
                    <a:lnL w="6350" cap="flat">
                      <a:solidFill>
                        <a:srgbClr val="E2E8F0"/>
                      </a:solidFill>
                    </a:lnL>
                    <a:lnR w="6350" cap="flat">
                      <a:solidFill>
                        <a:srgbClr val="E2E8F0"/>
                      </a:solidFill>
                    </a:lnR>
                    <a:lnT w="6350" cap="flat">
                      <a:solidFill>
                        <a:srgbClr val="E2E8F0"/>
                      </a:solidFill>
                    </a:lnT>
                    <a:lnB w="6350" cap="flat">
                      <a:solidFill>
                        <a:srgbClr val="E2E8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Oval 9"/>
          <p:cNvSpPr/>
          <p:nvPr/>
        </p:nvSpPr>
        <p:spPr>
          <a:xfrm>
            <a:off x="822960" y="4462272"/>
            <a:ext cx="128016" cy="128016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4443984"/>
            <a:ext cx="10287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En ámbar: unidad que se trabaja en la empresa (FCT), no en el aula.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809744"/>
            <a:ext cx="105430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Total del curso: 100 horas repartidas en 3 evaluaciones.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50292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ourier New"/>
              </a:rPr>
              <a:t>&lt;/&gt;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5303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1R DAW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mbria"/>
              </a:rPr>
              <a:t>Cómo se evalúa este módulo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Presentación · Evaluación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0487 · EDE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783080"/>
            <a:ext cx="5134355" cy="128016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965960"/>
            <a:ext cx="4585716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F766E"/>
                </a:solidFill>
                <a:latin typeface="Cambria"/>
              </a:rPr>
              <a:t>60%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551176"/>
            <a:ext cx="4585716" cy="4480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Exámenes teórico-prácticos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(media si hay más de uno por evaluación)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1783080"/>
            <a:ext cx="5134355" cy="128016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5955" y="1965960"/>
            <a:ext cx="4585716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F766E"/>
                </a:solidFill>
                <a:latin typeface="Cambria"/>
              </a:rPr>
              <a:t>40%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5955" y="2551176"/>
            <a:ext cx="4585716" cy="4480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Ejercicios y prácticas de entrega obligatoria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246120"/>
            <a:ext cx="10543032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3246120"/>
            <a:ext cx="82296" cy="914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383279"/>
            <a:ext cx="9994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ATENCIÓN A LA ASISTENCIA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703320"/>
            <a:ext cx="99943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Se pierde la evaluación continua con un 15% de faltas de asistencia. Además, hay que sacar mínimo un 45% en el examen y un 5 en cada práctica entregada.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297680"/>
            <a:ext cx="10543032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4297680"/>
            <a:ext cx="82296" cy="9144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434840"/>
            <a:ext cx="9994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¿Y SI SUSPENDO UNA EVALUACIÓN?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754880"/>
            <a:ext cx="99943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Programa de recuperación individual: boletín de ejercicios teórico-prácticos más una prueba objetiva sobre los contenidos.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349240"/>
            <a:ext cx="10543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Nota final = media ponderada de las 3 evaluaciones, cada una con un 5 o más.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50292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ourier New"/>
              </a:rPr>
              <a:t>&lt;/&gt;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5303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1R DAW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mbria"/>
              </a:rPr>
              <a:t>Qué vamos a necesitar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Presentación · Materiales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0487 · EDE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2430018" cy="237744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24128" y="2258568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25856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VM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770632"/>
            <a:ext cx="202768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VirtualBox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3081528"/>
            <a:ext cx="2027681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Para levantar máquinas virtuales de trabajo.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7297" y="2057400"/>
            <a:ext cx="2430018" cy="237744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728465" y="2258568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28465" y="225856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UML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28465" y="2770632"/>
            <a:ext cx="202768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Herramientas de diseño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28465" y="3081528"/>
            <a:ext cx="2027681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Para dibujar diagramas de clases y de comportamiento.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1636" y="2057400"/>
            <a:ext cx="2430018" cy="237744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32803" y="2258568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32803" y="225856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&lt;/&gt;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2803" y="2770632"/>
            <a:ext cx="202768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Un IDE (a elegir)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2803" y="3081528"/>
            <a:ext cx="2027681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Instalaremos y compararemos varios en la UD2.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35974" y="2057400"/>
            <a:ext cx="2430018" cy="237744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37142" y="2258568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37142" y="225856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@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7142" y="2770632"/>
            <a:ext cx="202768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Aules y Teams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7142" y="3081528"/>
            <a:ext cx="2027681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Plataforma docente y comunicación con el aula.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0" y="914400"/>
            <a:ext cx="5486400" cy="5029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6000" b="1" i="0">
                <a:solidFill>
                  <a:srgbClr val="1E293B"/>
                </a:solidFill>
                <a:latin typeface="Courier New"/>
              </a:rPr>
              <a:t>&lt;/&gt;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98755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8FAFC"/>
                </a:solidFill>
                <a:latin typeface="Cambria"/>
              </a:rPr>
              <a:t>Al terminar, tendrás el vocabulario, las herramientas y el método para desarrollar software de forma ordenada, de la idea al código probado.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DD4BF"/>
                </a:solidFill>
                <a:latin typeface="Calibri"/>
              </a:rPr>
              <a:t>6 resultados de aprendizaje · 100 horas · 1r DAW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611880"/>
            <a:ext cx="7863840" cy="14173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7764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  <a:latin typeface="Calibri"/>
              </a:rPr>
              <a:t>PARA EMPEZAR BIEN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096512"/>
            <a:ext cx="73152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CBD5E1"/>
                </a:solidFill>
                <a:latin typeface="Calibri"/>
              </a:rPr>
              <a:t>Instala Visual Studio Code y VirtualBox si puedes antes de la próxima clase, y crea una cuenta de GitHub — la usaremos desde la UD3.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6080760"/>
            <a:ext cx="10515600" cy="0"/>
          </a:xfrm>
          <a:prstGeom prst="line">
            <a:avLst/>
          </a:prstGeom>
          <a:ln w="12700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Noel Marco Biendicho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6217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0487 · EDE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