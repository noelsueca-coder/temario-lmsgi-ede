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0" y="914400"/>
            <a:ext cx="365760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0" b="1" i="0">
                <a:solidFill>
                  <a:srgbClr val="1E293B"/>
                </a:solidFill>
                <a:latin typeface="Courier New"/>
              </a:rPr>
              <a:t>&lt;/&gt;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  <a:latin typeface="Calibri"/>
              </a:rPr>
              <a:t>EDE · 1r DAW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64748B"/>
                </a:solidFill>
                <a:latin typeface="Cambria"/>
              </a:rPr>
              <a:t>Unidad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8686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F8FAFC"/>
                </a:solidFill>
                <a:latin typeface="Cambria"/>
              </a:rPr>
              <a:t>Desarrollo de</a:t>
            </a:r>
          </a:p>
          <a:p>
            <a:pPr algn="l"/>
            <a:r>
              <a:rPr sz="4200" b="1" i="0">
                <a:solidFill>
                  <a:srgbClr val="F8FAFC"/>
                </a:solidFill>
                <a:latin typeface="Cambria"/>
              </a:rPr>
              <a:t>software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617720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CBD5E1"/>
                </a:solidFill>
                <a:latin typeface="Calibri"/>
              </a:rPr>
              <a:t>Entorns de Desenvolupament (EDE) · 1r DAW · Curso 2026-2027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IES Sant Vicent Ferrer — Algemesí · Noel Marco Biendicho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CONTENIDO DE LA UNIDAD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Índice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2 · Índice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20240"/>
            <a:ext cx="5440680" cy="640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21792" y="2048256"/>
            <a:ext cx="384048" cy="38404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04825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92024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El programa y los componentes del sistema (CA 1a)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5440680" cy="640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2825496"/>
            <a:ext cx="384048" cy="38404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28254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69748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El ciclo de vida del software: fases del desarrollo (CA 1b)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74720"/>
            <a:ext cx="5440680" cy="640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1792" y="3602735"/>
            <a:ext cx="384048" cy="38404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60273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747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Código fuente, código objeto y código ejecutable (CA 1c)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251960"/>
            <a:ext cx="5440680" cy="640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1792" y="4379976"/>
            <a:ext cx="384048" cy="38404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37997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25196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Código intermedio y máquinas virtuales (CA 1d)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029200"/>
            <a:ext cx="5440680" cy="640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21792" y="5157216"/>
            <a:ext cx="384048" cy="38404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1572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02920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Clasificación de los lenguajes de programación (CA 1e)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1920240"/>
            <a:ext cx="5440680" cy="640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28232" y="2048256"/>
            <a:ext cx="384048" cy="38404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8232" y="204825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Calibr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192024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Herramientas del desarrollo de software (CA 1f)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2697480"/>
            <a:ext cx="5440680" cy="640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8232" y="2825496"/>
            <a:ext cx="384048" cy="38404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8232" y="28254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Calibr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69748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Reto de clase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3474720"/>
            <a:ext cx="5440680" cy="640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428232" y="3602735"/>
            <a:ext cx="384048" cy="38404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28232" y="360273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Calibri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4747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Resumen de la unidad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4251960"/>
            <a:ext cx="5440680" cy="64008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428232" y="4379976"/>
            <a:ext cx="384048" cy="38404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28232" y="437997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Calibri"/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425196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Para saber más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RA cubierto y notas de la unidad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3 · RA cubierto · Notas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93392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mbria"/>
              </a:rPr>
              <a:t>RA1 — Reconoce los elementos y herramientas que intervienen en 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desarrollo de un programa informático, analizando sus características y las fases en que actúan hasta llegar a su puesta en funcionamiento. (CA 1a-1f)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46120"/>
            <a:ext cx="1124712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374136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D97706"/>
                </a:solidFill>
                <a:latin typeface="Calibri"/>
              </a:rPr>
              <a:t>⚠️  Nota de programación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721608"/>
            <a:ext cx="1078992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El CA 1g (metodologías ágiles de desarrollo de software) no se trabaja en esta unidad — está asignado a la UP6 (Gestión de proyectos informáticos), donde ya se conoce el ciclo de vida y las fases que se presentan aquí.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800600"/>
            <a:ext cx="11247120" cy="14173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928616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766E"/>
                </a:solidFill>
                <a:latin typeface="Calibri"/>
              </a:rPr>
              <a:t>💡  Nota de estudio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276088"/>
            <a:ext cx="10789920" cy="813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Esta unidad da el vocabulario y los conceptos que se usarán durante todo el curso — cuando en UD2 se instale un IDE o en UD3 se haga el primer commit, se estarán usando "herramientas de desarrollo" tal como se clasifican aquí. Apenas hay código; el objetivo es saber de qué se habla antes de ponerse a programar.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AL TERMINAR ESTA UNIDAD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Sabrás hacer esto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4 · Conceptos clave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20240"/>
            <a:ext cx="3520440" cy="35661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194560"/>
            <a:ext cx="640080" cy="64008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0F172A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71800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  <a:latin typeface="Cambria"/>
              </a:rPr>
              <a:t>Relacionar programa y hardware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297180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Calibri"/>
              </a:rPr>
              <a:t>identificar cómo la memoria, el procesador y los periféricos intervienen cuando un programa se ejecuta.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920240"/>
            <a:ext cx="3520440" cy="35661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94560"/>
            <a:ext cx="640080" cy="64008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194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0F172A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971800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  <a:latin typeface="Cambria"/>
              </a:rPr>
              <a:t>Ubicar cada fase del desarrollo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474720"/>
            <a:ext cx="297180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Calibri"/>
              </a:rPr>
              <a:t>reconocer las fases del ciclo de vida del software y qué documentación genera cada una.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920240"/>
            <a:ext cx="3520440" cy="35661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12480" y="2194560"/>
            <a:ext cx="640080" cy="64008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194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0F172A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  <a:latin typeface="Cambria"/>
              </a:rPr>
              <a:t>Elegir lenguaje y herramientas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474720"/>
            <a:ext cx="297180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Calibri"/>
              </a:rPr>
              <a:t>clasificar lenguajes de programación y las herramientas de desarrollo según su funcionalidad.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Informática, software y programa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5 · 1.1 Informática, software y programa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Calibri"/>
              </a:rPr>
              <a:t>La informática trata la información en binario (bits/bytes). El software es la parte intangible del sistema: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377440"/>
          <a:ext cx="3291840" cy="16459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45920"/>
                <a:gridCol w="16459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Unidad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Equivale a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1 byte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8 bits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1 KB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1024 bytes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1 MB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1024 KB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1 GB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1024 MB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931920" y="2377440"/>
          <a:ext cx="7772400" cy="2103115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28800"/>
                <a:gridCol w="3657600"/>
                <a:gridCol w="2286000"/>
              </a:tblGrid>
              <a:tr h="420623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Término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</a:tr>
              <a:tr h="4206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Programa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Instrucciones con una finalidad concreta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Función que suma dos números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4206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Librería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Empaqueta programas reutilizables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Un .dll, un paquete pip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4206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Aplicación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Uno o varios programas para el usuario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Adobe Photoshop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4206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Suite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Varias aplicaciones distribuidas juntas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LibreOffice, MS Office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57200" y="461772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745736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D97706"/>
                </a:solidFill>
                <a:latin typeface="Calibri"/>
              </a:rPr>
              <a:t>⚠️  El sistema operativo no encaja en una sola categoría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093208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En la práctica, un SO es una suite de programas, librerías y aplicaciones que gestionan el resto del sistema.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66928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797296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766E"/>
                </a:solidFill>
                <a:latin typeface="Calibri"/>
              </a:rPr>
              <a:t>💡  Programar ≠ desarrollar software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144768"/>
            <a:ext cx="10789920" cy="82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Desarrollar incluye analizar, diseñar, probar, documentar y mantener — no solo codificar (punto 1.3).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D4BF"/>
                </a:solidFill>
                <a:latin typeface="Calibri"/>
              </a:rPr>
              <a:t>AHORA TE TOCA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mbria"/>
              </a:rPr>
              <a:t>Ejercicios prácticos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6 · 1.1 Ejercicios 1-2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20240"/>
            <a:ext cx="11247120" cy="19659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" y="2121408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2140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mbria"/>
              </a:rPr>
              <a:t>Unidades de información con un caso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423160"/>
            <a:ext cx="10241280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Un dashboard de finanzas guarda cada transacción como ~200 bytes. Calcula: (a) cuántos KB ocupa la BD de un usuario con 15 transacciones/día durante un año; (b) cuántos MB con 10.000 usuarios haciendo lo mismo. ¿Sorprende el resultado?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069080"/>
            <a:ext cx="11247120" cy="19659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8368" y="4270248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27024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187952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mbria"/>
              </a:rPr>
              <a:t>Vocabulario técnico correcto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572000"/>
            <a:ext cx="10241280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Corrige una frase con 4 términos mal usados (programa/librería/aplicación/suite mezclados) y explica por qué cada corrección es necesaria.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Otro eje de clasificación: para qué sirve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7 · 1.1 Software de sistema vs. de aplicación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La tabla anterior distingue qué forma tiene el software; esta distingue para qué sirve — un driver, por ejemplo, es una librería (por forma) de software de sistema (por función):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606040"/>
          <a:ext cx="11247120" cy="1828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926080"/>
                <a:gridCol w="5120640"/>
                <a:gridCol w="3200400"/>
              </a:tblGrid>
              <a:tr h="6096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Calibri"/>
                        </a:rPr>
                        <a:t>Función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Calibri"/>
                        </a:rPr>
                        <a:t>Ejemplos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Software de sistema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Gestiona el hardware y da la base sobre la que corre todo lo demás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SO, drivers, firmware (BIOS/UEFI), utilidades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Software de aplicación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Resuelve tareas concretas del usuario final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Navegador, editor de código, un dashboard propio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4663440"/>
            <a:ext cx="11247120" cy="16916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791455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766E"/>
                </a:solidFill>
                <a:latin typeface="Calibri"/>
              </a:rPr>
              <a:t>🧪  Ejercicio 3 — Software de sistema o de aplicación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138927"/>
            <a:ext cx="10789920" cy="10881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Elige 6 programas instalados en tu ordenador o móvil: 3 de sistema y 3 de aplicación. Justifica en una frase cada clasificación, y di además si por su forma es un programa, una librería, una aplicación o una suite.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Cómo un programa usa el hardware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8 · 1.2 Memoria, procesador y periféricos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11247120" cy="15087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106984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ourier New"/>
              </a:rPr>
              <a:t>PERIFÉRICOS         MEMORIA (RAM)          CPU</a:t>
            </a:r>
          </a:p>
          <a:p>
            <a:pPr algn="l"/>
            <a:r>
              <a:rPr sz="1200" b="0" i="0">
                <a:solidFill>
                  <a:srgbClr val="E2E8F0"/>
                </a:solidFill>
                <a:latin typeface="Courier New"/>
              </a:rPr>
              <a:t>entrada -&gt; teclado   instrucciones + datos   fetch -&gt; decode -&gt; execute</a:t>
            </a:r>
          </a:p>
          <a:p>
            <a:pPr algn="l"/>
            <a:r>
              <a:rPr sz="1200" b="0" i="0">
                <a:solidFill>
                  <a:srgbClr val="E2E8F0"/>
                </a:solidFill>
                <a:latin typeface="Courier New"/>
              </a:rPr>
              <a:t>salida  &lt;- pantalla  del programa en curso   (registros, ALU)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566160"/>
            <a:ext cx="3611880" cy="214884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3822191"/>
            <a:ext cx="548640" cy="548640"/>
          </a:xfrm>
          <a:prstGeom prst="ellipse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3822191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F766E"/>
                </a:solidFill>
                <a:latin typeface="Calibri"/>
              </a:rPr>
              <a:t>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462272"/>
            <a:ext cx="30998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Cambria"/>
              </a:rPr>
              <a:t>Memoria (RAM)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846320"/>
            <a:ext cx="3099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Instrucciones y datos del programa mientras corre. Es volátil: al cerrarlo se pierde.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566160"/>
            <a:ext cx="3611880" cy="214884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7992" y="3822191"/>
            <a:ext cx="548640" cy="548640"/>
          </a:xfrm>
          <a:prstGeom prst="ellipse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7992" y="3822191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F766E"/>
                </a:solidFill>
                <a:latin typeface="Calibri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7992" y="4462272"/>
            <a:ext cx="30998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Cambria"/>
              </a:rPr>
              <a:t>Procesador (CPU)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4846320"/>
            <a:ext cx="3099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Ciclo de instrucción: fetch (busca), decode (interpreta), execute (realiza, con registros y ALU).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566160"/>
            <a:ext cx="3657600" cy="214884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02752" y="3822191"/>
            <a:ext cx="548640" cy="548640"/>
          </a:xfrm>
          <a:prstGeom prst="ellipse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1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F766E"/>
                </a:solidFill>
                <a:latin typeface="Calibri"/>
              </a:rPr>
              <a:t>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4462272"/>
            <a:ext cx="314553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Cambria"/>
              </a:rPr>
              <a:t>Periféricos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4846320"/>
            <a:ext cx="31455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De entrada (teclado, red) el programa recibe datos; de salida (pantalla, disco) los devuelve o persiste.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No toda la memoria es 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9 · 1.2 Tipos de memoria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874519"/>
          <a:ext cx="11247119" cy="21031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2011680"/>
                <a:gridCol w="3749039"/>
                <a:gridCol w="274320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8FAFC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8FAFC"/>
                          </a:solidFill>
                          <a:latin typeface="Calibri"/>
                        </a:rPr>
                        <a:t>¿Volátil?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8FAFC"/>
                          </a:solidFill>
                          <a:latin typeface="Calibri"/>
                        </a:rPr>
                        <a:t>Qué guarda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8FAFC"/>
                          </a:solidFill>
                          <a:latin typeface="Calibri"/>
                        </a:rPr>
                        <a:t>Ejemplos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RAM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Sí (se pierde al apagar)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Instrucciones y datos en ejecución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Memoria del ordenador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ROM / firmware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Instrucciones básicas de arranque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BIOS/UEFI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Almacenamiento secundario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Datos y programas de forma permanente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Disco duro, SSD, red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4114800"/>
            <a:ext cx="11247120" cy="1005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242816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766E"/>
                </a:solidFill>
                <a:latin typeface="Calibri"/>
              </a:rPr>
              <a:t>📡  Vigente: la memoria caché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90288"/>
            <a:ext cx="107899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La mayoría de CPU actuales incorporan una caché, mucho más rápida que la RAM pero muy pequeña, que guarda lo de uso más frecuente — una razón por la que dos CPU con la misma velocidad de reloj rinden distinto.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25780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385816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766E"/>
                </a:solidFill>
                <a:latin typeface="Calibri"/>
              </a:rPr>
              <a:t>💡  Actividad rápida (5 min)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733288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Abre el Administrador de tareas o htop/top: ¿cuánta RAM usa el navegador? ¿qué proceso usa más CPU? Relaciónalo con fetch-decode-execute y con la volatilidad de la RAM.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Los periféricos no son solo "entrada" o "salida"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10 · 1.2 Periféricos de entrada/salida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874519"/>
          <a:ext cx="11247120" cy="187451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4754880"/>
                <a:gridCol w="4114800"/>
              </a:tblGrid>
              <a:tr h="468629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8FAFC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8FAFC"/>
                          </a:solidFill>
                          <a:latin typeface="Calibri"/>
                        </a:rPr>
                        <a:t>Función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8FAFC"/>
                          </a:solidFill>
                          <a:latin typeface="Calibri"/>
                        </a:rPr>
                        <a:t>Ejemplos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</a:tr>
              <a:tr h="468629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Entrada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El programa recibe datos del exterior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Teclado, ratón, micrófono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468629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Salida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El programa envía resultados al exterior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Pantalla, altavoces, impresora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468629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Entrada/salida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Cumple ambas funciones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Pantalla táctil, tarjeta de red, disco externo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3977639"/>
            <a:ext cx="11247120" cy="10972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105655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766E"/>
                </a:solidFill>
                <a:latin typeface="Calibri"/>
              </a:rPr>
              <a:t>📡  Por qué importa hoy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53127"/>
            <a:ext cx="10789920" cy="493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En un dashboard de finanzas: el dato tecleado entra por un periférico de entrada, se guarda temporalmente en RAM mientras se calcula, y el resultado se persiste en una BD en disco (almacenamiento secundario).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257800"/>
            <a:ext cx="11247120" cy="10058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5458968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4589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376672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mbria"/>
              </a:rPr>
              <a:t>Memoria, procesador y periféricos en un caso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760720"/>
            <a:ext cx="10241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App que pide un nombre por teclado y muestra un saludo: ¿qué periférico entra, cuál sale, y cuándo pasa el dato por RAM y cuándo lo ejecuta la CPU?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De la idea a la solución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11 · 1.3 Programar vs. desarrollar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64748B"/>
                </a:solidFill>
                <a:latin typeface="Calibri"/>
              </a:rPr>
              <a:t>Programar es codificar instrucciones. Desarrollar software es más: incluye analizar, diseñar, probar, documentar y mantener, además de codificar — por eso hablamos de "desarrollador", no solo "programador".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743200"/>
            <a:ext cx="2651760" cy="237744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999232"/>
            <a:ext cx="548640" cy="548640"/>
          </a:xfrm>
          <a:prstGeom prst="ellipse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99923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F766E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639312"/>
            <a:ext cx="21396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mbria"/>
              </a:rPr>
              <a:t>Entender el problema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023360"/>
            <a:ext cx="213969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¿qué se pide exactamente? (fase de Análisis)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2743200"/>
            <a:ext cx="2651760" cy="237744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93591" y="2999232"/>
            <a:ext cx="548640" cy="548640"/>
          </a:xfrm>
          <a:prstGeom prst="ellipse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3591" y="299923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F766E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1" y="3639312"/>
            <a:ext cx="21396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mbria"/>
              </a:rPr>
              <a:t>Diseñar una solución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1" y="4023360"/>
            <a:ext cx="213969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pensar el "cómo" en general, sin código todavía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743200"/>
            <a:ext cx="2651760" cy="237744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73952" y="2999232"/>
            <a:ext cx="548640" cy="548640"/>
          </a:xfrm>
          <a:prstGeom prst="ellipse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99923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F766E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3639312"/>
            <a:ext cx="21396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mbria"/>
              </a:rPr>
              <a:t>Implementarla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4023360"/>
            <a:ext cx="213969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traducirla a un lenguaje concreto — esto es, estrictamente, "programar"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98280" y="2743200"/>
            <a:ext cx="2651760" cy="237744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54311" y="2999232"/>
            <a:ext cx="548640" cy="548640"/>
          </a:xfrm>
          <a:prstGeom prst="ellipse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54311" y="299923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F766E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54311" y="3639312"/>
            <a:ext cx="21396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mbria"/>
              </a:rPr>
              <a:t>Comprobarla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1" y="4023360"/>
            <a:ext cx="213969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verificar que funciona y hace lo que debía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4924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477255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766E"/>
                </a:solidFill>
                <a:latin typeface="Calibri"/>
              </a:rPr>
              <a:t>🕰️  El mismo esqueleto, en miniatura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824727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Análisis, diseño, codificación y pruebas no son ideas exclusivas de proyectos grandes: aparecen incluso al resolver un ejercicio pequeño — es el ciclo de vida que viene a continuación.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7 fases, cada una apoyada en la anterior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12 · 2. El ciclo de vida: modelo en cascada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2926080"/>
            <a:ext cx="11430000" cy="0"/>
          </a:xfrm>
          <a:prstGeom prst="line">
            <a:avLst/>
          </a:prstGeom>
          <a:ln w="19050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081604" y="2825496"/>
            <a:ext cx="201168" cy="20116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240280"/>
            <a:ext cx="163285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  <a:latin typeface="Cambria"/>
              </a:rPr>
              <a:t>1. Análisis</a:t>
            </a:r>
          </a:p>
        </p:txBody>
      </p:sp>
      <p:sp>
        <p:nvSpPr>
          <p:cNvPr id="11" name="Oval 10"/>
          <p:cNvSpPr/>
          <p:nvPr/>
        </p:nvSpPr>
        <p:spPr>
          <a:xfrm>
            <a:off x="2714461" y="2825496"/>
            <a:ext cx="201168" cy="20116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98617" y="2240280"/>
            <a:ext cx="163285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  <a:latin typeface="Cambria"/>
              </a:rPr>
              <a:t>2. Diseño</a:t>
            </a:r>
          </a:p>
        </p:txBody>
      </p:sp>
      <p:sp>
        <p:nvSpPr>
          <p:cNvPr id="13" name="Oval 12"/>
          <p:cNvSpPr/>
          <p:nvPr/>
        </p:nvSpPr>
        <p:spPr>
          <a:xfrm>
            <a:off x="4347318" y="2825496"/>
            <a:ext cx="201168" cy="20116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1474" y="2240280"/>
            <a:ext cx="163285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  <a:latin typeface="Cambria"/>
              </a:rPr>
              <a:t>3. Codificación</a:t>
            </a:r>
          </a:p>
        </p:txBody>
      </p:sp>
      <p:sp>
        <p:nvSpPr>
          <p:cNvPr id="15" name="Oval 14"/>
          <p:cNvSpPr/>
          <p:nvPr/>
        </p:nvSpPr>
        <p:spPr>
          <a:xfrm>
            <a:off x="5980176" y="2825496"/>
            <a:ext cx="201168" cy="20116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64331" y="2240280"/>
            <a:ext cx="163285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  <a:latin typeface="Cambria"/>
              </a:rPr>
              <a:t>4. Pruebas</a:t>
            </a:r>
          </a:p>
        </p:txBody>
      </p:sp>
      <p:sp>
        <p:nvSpPr>
          <p:cNvPr id="17" name="Oval 16"/>
          <p:cNvSpPr/>
          <p:nvPr/>
        </p:nvSpPr>
        <p:spPr>
          <a:xfrm>
            <a:off x="7613033" y="2825496"/>
            <a:ext cx="201168" cy="20116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7188" y="2240280"/>
            <a:ext cx="163285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  <a:latin typeface="Cambria"/>
              </a:rPr>
              <a:t>5. Documentación</a:t>
            </a:r>
          </a:p>
        </p:txBody>
      </p:sp>
      <p:sp>
        <p:nvSpPr>
          <p:cNvPr id="19" name="Oval 18"/>
          <p:cNvSpPr/>
          <p:nvPr/>
        </p:nvSpPr>
        <p:spPr>
          <a:xfrm>
            <a:off x="9245890" y="2825496"/>
            <a:ext cx="201168" cy="20116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30045" y="2240280"/>
            <a:ext cx="163285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  <a:latin typeface="Cambria"/>
              </a:rPr>
              <a:t>6. Explotación</a:t>
            </a:r>
          </a:p>
        </p:txBody>
      </p:sp>
      <p:sp>
        <p:nvSpPr>
          <p:cNvPr id="21" name="Oval 20"/>
          <p:cNvSpPr/>
          <p:nvPr/>
        </p:nvSpPr>
        <p:spPr>
          <a:xfrm>
            <a:off x="10878747" y="2825496"/>
            <a:ext cx="201168" cy="20116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62902" y="2240280"/>
            <a:ext cx="163285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  <a:latin typeface="Cambria"/>
              </a:rPr>
              <a:t>7. Mantenimiento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38328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64748B"/>
                </a:solidFill>
                <a:latin typeface="Calibri"/>
              </a:rPr>
              <a:t>El modelo en cascada es el más clásico y el que usamos como referencia para entender cada fase: cada una se apoya en la anterior y genera su propia documentación, sin empezar la siguiente hasta cerrar la actual.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34840"/>
            <a:ext cx="11247120" cy="17373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4654296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  <a:latin typeface="Cambria"/>
              </a:rPr>
              <a:t>📋  Un análisis siempre bilateral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148072"/>
            <a:ext cx="1073505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BD5E1"/>
                </a:solidFill>
                <a:latin typeface="Calibri"/>
              </a:rPr>
              <a:t>El cliente rara vez sabe expresar con precisión técnica lo que necesita: el analista tiene que indagar, no solo tomar nota (entrevista, cuestionario, observación, revisión de documentación existente) — esto abre la fase de Análisis, que vemos a continuación.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Análisis: qué necesita el cliente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13 · 2.1 Análisis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874519"/>
          <a:ext cx="11247120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389120"/>
                <a:gridCol w="4754880"/>
              </a:tblGrid>
              <a:tr h="5791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8FAFC"/>
                          </a:solidFill>
                          <a:latin typeface="Calibri"/>
                        </a:rPr>
                        <a:t>Tipo de requisito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8FAFC"/>
                          </a:solidFill>
                          <a:latin typeface="Calibri"/>
                        </a:rPr>
                        <a:t>Qué describe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8FAFC"/>
                          </a:solidFill>
                          <a:latin typeface="Calibri"/>
                        </a:rPr>
                        <a:t>Ejemplo (dashboard de finanzas)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Funcional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Qué debe hacer el sistema — una acción o función concreta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"El usuario puede registrar un gasto con importe, fecha y categoría"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No funcional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Cómo debe comportarse al hacerlo (rendimiento, seguridad, usabilidad...)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"El listado debe cargar en menos de 2 segundos"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79476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Todo se recoge en la ERS (Especificación de Requisitos del Sistema), junto a un primer boceto de las entidades (diagrama E/R o de clases preliminar).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34840"/>
            <a:ext cx="11247120" cy="1600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562855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D97706"/>
                </a:solidFill>
                <a:latin typeface="Calibri"/>
              </a:rPr>
              <a:t>🕰️  Qué sigue vigente y qué es ya historia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910327"/>
            <a:ext cx="10789920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Durante décadas el estándar de referencia para la ERS fue IEEE 830 (1998) — hoy retirado. Lo sustituye ISO/IEC/IEEE 29148, la norma vigente. El contenido de fondo (qué es un requisito funcional o no funcional) apenas ha cambiado; cambia el estándar formal que regula cómo documentarlo.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Diseño: el funcionamiento, sin código todavía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14 · 2.2 Diseño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19"/>
            <a:ext cx="5440680" cy="192024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2130552"/>
            <a:ext cx="548640" cy="548640"/>
          </a:xfrm>
          <a:prstGeom prst="ellipse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1305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F766E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770632"/>
            <a:ext cx="49286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Cambria"/>
              </a:rPr>
              <a:t>Diseño arquitectónico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154679"/>
            <a:ext cx="492861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La visión global: en qué módulos o capas se organiza el sistema y qué tecnología usa cada uno (interfaz, lógica de negocio, acceso a datos).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74519"/>
            <a:ext cx="5440680" cy="192024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19672" y="2130552"/>
            <a:ext cx="548640" cy="548640"/>
          </a:xfrm>
          <a:prstGeom prst="ellipse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21305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F766E"/>
                </a:solidFill>
                <a:latin typeface="Calibri"/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2770632"/>
            <a:ext cx="49286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Cambria"/>
              </a:rPr>
              <a:t>Diseño detallado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3154679"/>
            <a:ext cx="492861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Dentro de cada módulo, cómo se resuelve internamente: estructuras de datos y algoritmos, todavía en diagramas o pseudocódigo.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77639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05655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766E"/>
                </a:solidFill>
                <a:latin typeface="Calibri"/>
              </a:rPr>
              <a:t>📐  UML, la notación estándar vigente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453127"/>
            <a:ext cx="10789920" cy="6766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Diagramas de casos de uso (qué puede hacer cada usuario), de secuencia (orden de comunicación) y de clases (entidades y relaciones — aquí se formaliza también el diseño de la BD: Usuario, Transacción, Categoría...).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394960"/>
            <a:ext cx="11247120" cy="8686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522976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766E"/>
                </a:solidFill>
                <a:latin typeface="Calibri"/>
              </a:rPr>
              <a:t>📄  El cuaderno de carga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70448"/>
            <a:ext cx="10789920" cy="265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El documento técnico, consensuado con el cliente, que recoge todo el diseño y sirve de base para empezar a programar.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Codificación: del cuaderno de carga al código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15 · 2.3 Codificación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Se traduce el cuaderno de carga al lenguaje elegido. "Código fuente comentado" implica seguir unas mínimas buenas prácticas: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23160"/>
            <a:ext cx="11247120" cy="77724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2619756"/>
            <a:ext cx="384048" cy="38404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61975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423160"/>
            <a:ext cx="103784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Nombres significativos — calcularTotalGastos() en vez de f1().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40"/>
            <a:ext cx="11247120" cy="77724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21792" y="3488436"/>
            <a:ext cx="384048" cy="38404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4884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291840"/>
            <a:ext cx="103784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Comentarios que expliquen el porqué, no el qué — el código ya dice qué hace.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160520"/>
            <a:ext cx="11247120" cy="77724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1792" y="4357116"/>
            <a:ext cx="384048" cy="38404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3571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160520"/>
            <a:ext cx="103784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Convenciones de estilo consistentes (p. ej. PEP 8 en Python).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120640"/>
            <a:ext cx="11247120" cy="10972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248655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766E"/>
                </a:solidFill>
                <a:latin typeface="Calibri"/>
              </a:rPr>
              <a:t>📡  Por qué importa hoy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596127"/>
            <a:ext cx="10789920" cy="493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Es en esta fase donde entra el control de versiones (Git): cada avance se registra como un cambio con su propio historial. Se ve en detalle en la UP3, pero el hábito de comentar y nombrar bien empieza aquí.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Pruebas: comprobar que no hay errores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16 · 2.4 Pruebas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Idealmente las hace alguien distinto de quien programó — a quien escribió el código le cuesta más ver sus propios fallos.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423160"/>
          <a:ext cx="11247120" cy="1600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4572000"/>
                <a:gridCol w="4297680"/>
              </a:tblGrid>
              <a:tr h="5334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Según se conoce el código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Cómo se prueba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Se fija en...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Caja negra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Sin mirar el código interno: entradas y salida esperada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La funcionalidad, desde fuera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Caja blanca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Conociendo la estructura interna del código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Que se ejecuten todas las líneas y condiciones (cobertura)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251960"/>
          <a:ext cx="11247120" cy="19659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00400"/>
                <a:gridCol w="8046720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Nivel (según qué se prueba)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Qué se prueba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Unitarias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Una función o módulo por separado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Integración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Varios módulos trabajando juntos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Sistema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La aplicación completa, de principio a fin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Aceptación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El cliente comprueba que se cumple lo pactado en el Análisis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Documentación de usuario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17 · 2.5 Documentación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64748B"/>
                </a:solidFill>
                <a:latin typeface="Calibri"/>
              </a:rPr>
              <a:t>Distinta de la documentación técnica ya generada en fases anteriores (ERS, cuaderno de carga, código comentado): manual de instalación, manual de uso, preguntas frecuentes...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63240"/>
            <a:ext cx="11247120" cy="26517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191256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D97706"/>
                </a:solidFill>
                <a:latin typeface="Calibri"/>
              </a:rPr>
              <a:t>📡  Cambiando ahora mismo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538728"/>
            <a:ext cx="10789920" cy="20482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El manual de usuario extenso en PDF está perdiendo peso frente a la ayuda contextual integrada en la propia aplicación: tutoriales interactivos la primera vez que se abre, tooltips junto a cada opción, un asistente que guía paso a paso. La documentación no ha desaparecido: se ha movido dentro del propio producto.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Explotación: instalar en el entorno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18 · 2.6 Explotación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874519"/>
          <a:ext cx="11247120" cy="2514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926080"/>
                <a:gridCol w="83210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Calibri"/>
                        </a:rPr>
                        <a:t>Estrategia de implantación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Calibri"/>
                        </a:rPr>
                        <a:t>En qué consiste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Directa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Se sustituye la versión anterior de golpe, para todos a la vez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En paralelo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Ambas versiones conviven un tiempo, para comparar y dar seguridad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Piloto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Se implanta primero en un grupo reducido antes de generalizar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Por fases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Se despliega módulo a módulo, no todo de una vez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4617720"/>
            <a:ext cx="11247120" cy="1600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745736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766E"/>
                </a:solidFill>
                <a:latin typeface="Calibri"/>
              </a:rPr>
              <a:t>📡  Cambiando activamente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093208"/>
            <a:ext cx="10789920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En desarrollo web esto se traduce hoy en el despliegue (deployment) del código a un servidor, cada vez más automatizado mediante CI/CD (integración y despliegue continuos) — se verá con detalle más adelante, pero la idea de fondo (llevar el software del entorno de desarrollo al real, con gradualidad o seguridad) es la misma.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Mantenimiento: actuar sobre el software en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19 · 2.7 Mantenimiento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874519"/>
          <a:ext cx="11247120" cy="26060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94560"/>
                <a:gridCol w="4846320"/>
                <a:gridCol w="4206240"/>
              </a:tblGrid>
              <a:tr h="52120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8FAFC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8FAFC"/>
                          </a:solidFill>
                          <a:latin typeface="Calibri"/>
                        </a:rPr>
                        <a:t>Qué resuelve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8FAFC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Correctivo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Corregir errores detectados en producción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"Se corrige un fallo al iniciar sesión"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Evolutivo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Añadir funcionalidad que el cliente no pidió al principio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"Se añade un modo oscuro"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Adaptativo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Adaptarse a cambios del entorno, no del software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"Se adapta a la nueva versión de Android"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Perfectivo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Mejorar sin cambiar la funcionalidad visible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"Se optimiza el tiempo de arranque"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4709160"/>
            <a:ext cx="11247120" cy="15087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837176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766E"/>
                </a:solidFill>
                <a:latin typeface="Calibri"/>
              </a:rPr>
              <a:t>💡  No todo mantenimiento es "hay un error"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184648"/>
            <a:ext cx="10789920" cy="9052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Si implica una ampliación importante, suele ser necesario revisar fases anteriores (Análisis y Diseño incluidos). Fíjate en el registro de actualizaciones de cualquier app: casi cada entrada encaja en uno de estos 4 tipos — es justo lo que pide el reto de clase de esta unidad.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¿Quién interviene en cada fase?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20 · 2. Roles por fase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Calibri"/>
              </a:rPr>
              <a:t>Los roles no son compartimentos estancos — la misma persona puede cubrir varios: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423160"/>
          <a:ext cx="1124712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114800"/>
                <a:gridCol w="71323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Calibri"/>
                        </a:rPr>
                        <a:t>Rol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Calibri"/>
                        </a:rPr>
                        <a:t>Fases en las que participa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Analista de sistemas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Análisis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Diseñador de software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Diseño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Analista programador ("desarrollador")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Diseño y Codificación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Programador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Codificación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Arquitecto de software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Análisis, Diseño, Documentación y Explotación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D4BF"/>
                </a:solidFill>
                <a:latin typeface="Calibri"/>
              </a:rPr>
              <a:t>CA 1B · ACTUALIDAD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mbria"/>
              </a:rPr>
              <a:t>No: alternativas clásicas y metodologías ágiles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21 · 2. ¿Cascada es la única forma?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874519"/>
          <a:ext cx="11247119" cy="19659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7955279"/>
              </a:tblGrid>
              <a:tr h="49149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8FAFC"/>
                          </a:solidFill>
                          <a:latin typeface="Calibri"/>
                        </a:rPr>
                        <a:t>Modelo clásico alternativo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8FAFC"/>
                          </a:solidFill>
                          <a:latin typeface="Calibri"/>
                        </a:rPr>
                        <a:t>Idea central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Iterativo-incremental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Se construye y entrega en incrementos sucesivos, cada uno añadiendo funcionalidad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En espiral (Boehm)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Combina iteración con análisis de riesgos explícito en cada vuelta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De prototipado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Se construye pronto una versión reducida y funcional para validarla con el cliente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4023360"/>
            <a:ext cx="11247120" cy="22402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242816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  <a:latin typeface="Cambria"/>
              </a:rPr>
              <a:t>📡  Actualidad: hoy manda lo ágil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736592"/>
            <a:ext cx="1073505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BD5E1"/>
                </a:solidFill>
                <a:latin typeface="Calibri"/>
              </a:rPr>
              <a:t>La gran mayoría de equipos no usa cascada ni estos modelos clásicos como forma habitual de trabajar, sino metodologías ágiles (Scrum, Kanban...) — según el informe State of Agile de Digital.ai, alrededor del 71% de las organizaciones declara usarlas. La cascada sigue siendo el modelo de referencia para entender las fases (objetivo de este punto) y se usa aún en proyectos muy regulados, pero no representa cómo trabaja hoy la mayoría. Las metodologías ágiles en detalle: UP6 (CA 1g).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D4BF"/>
                </a:solidFill>
                <a:latin typeface="Calibri"/>
              </a:rPr>
              <a:t>AHORA TE TOCA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mbria"/>
              </a:rPr>
              <a:t>Ejercicios prácticos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22 · 2. Ejercicios de la fase (5-7)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1124712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" y="2029968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299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  <a:latin typeface="Cambria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947672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mbria"/>
              </a:rPr>
              <a:t>Fases del ciclo de vida aplicadas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331720"/>
            <a:ext cx="102412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Un cliente pide una app de gestión de gastos personales. Redacta 2-3 líneas por fase: qué harías en cada una de las 7 fases para ese proyecto.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1124712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8368" y="3538728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53872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  <a:latin typeface="Cambria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456432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mbria"/>
              </a:rPr>
              <a:t>Requisitos funcionales o no funcionales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840480"/>
            <a:ext cx="102412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Clasifica 6 requisitos de la misma app (exportar a PDF, funcionar sin conexión, categorías personalizadas, privacidad entre usuarios, tiempo de carga, login con Google) y justifica cada uno.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846320"/>
            <a:ext cx="1124712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" y="5047488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047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  <a:latin typeface="Cambria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965192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mbria"/>
              </a:rPr>
              <a:t>Clasifica el mantenimiento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349240"/>
            <a:ext cx="102412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Busca el changelog de una app instalada y elige 4 entradas. Clasifica cada una como correctivo, evolutivo, adaptativo o perfectivo, y justifícalo.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Del código fuente al ejecutable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23 · 3. Código fuente, objeto y ejecutable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10698480" cy="502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ourier New"/>
              </a:rPr>
              <a:t>código fuente (.java) --(compilador)--&gt; código objeto (.class) --(+librerías, enlazador)--&gt; ejecutable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80360"/>
            <a:ext cx="3611880" cy="169164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3136391"/>
            <a:ext cx="548640" cy="548640"/>
          </a:xfrm>
          <a:prstGeom prst="ellipse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3136391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F766E"/>
                </a:solidFill>
                <a:latin typeface="Calibri"/>
              </a:rPr>
              <a:t>&lt;/&gt;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3776472"/>
            <a:ext cx="30998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mbria"/>
              </a:rPr>
              <a:t>Código fuente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160520"/>
            <a:ext cx="30998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Instrucciones del desarrollador en texto (.java, .py, .c).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2880360"/>
            <a:ext cx="3611880" cy="169164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7992" y="3136391"/>
            <a:ext cx="548640" cy="548640"/>
          </a:xfrm>
          <a:prstGeom prst="ellipse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7992" y="3136391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F766E"/>
                </a:solidFill>
                <a:latin typeface="Calibri"/>
              </a:rPr>
              <a:t>{}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7992" y="3776472"/>
            <a:ext cx="30998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mbria"/>
              </a:rPr>
              <a:t>Código objeto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4160520"/>
            <a:ext cx="30998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Resultado de compilar el fuente; todavía no ejecutable directo (p. ej. .class).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880360"/>
            <a:ext cx="3657600" cy="169164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02752" y="3136391"/>
            <a:ext cx="548640" cy="548640"/>
          </a:xfrm>
          <a:prstGeom prst="ellipse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136391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F766E"/>
                </a:solidFill>
                <a:latin typeface="Calibri"/>
              </a:rPr>
              <a:t>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3776472"/>
            <a:ext cx="314553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mbria"/>
              </a:rPr>
              <a:t>Código ejecutable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4160520"/>
            <a:ext cx="3145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Objeto + librerías + particularidades del SO destino.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709160"/>
            <a:ext cx="11247120" cy="1188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837176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766E"/>
                </a:solidFill>
                <a:latin typeface="Calibri"/>
              </a:rPr>
              <a:t>🔗  El enlazador hace algo más que "juntar" ficheros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184648"/>
            <a:ext cx="1078992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Enlazado estático: la librería se copia dentro del ejecutable (más grande, autónomo). Enlazado dinámico: solo una referencia, cargada en tiempo de ejecución (.dll/.so) — varios programas comparten una copia en memoria.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No se ve igual en todos los lenguajes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24 · 3. El esquema según el lenguaje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874519"/>
          <a:ext cx="11247120" cy="24688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2011680"/>
                <a:gridCol w="3840480"/>
                <a:gridCol w="3017520"/>
              </a:tblGrid>
              <a:tr h="6172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8FAFC"/>
                          </a:solidFill>
                          <a:latin typeface="Calibri"/>
                        </a:rPr>
                        <a:t>Lenguaje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8FAFC"/>
                          </a:solidFill>
                          <a:latin typeface="Calibri"/>
                        </a:rPr>
                        <a:t>Código fuente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8FAFC"/>
                          </a:solidFill>
                          <a:latin typeface="Calibri"/>
                        </a:rPr>
                        <a:t>Código objeto/intermedio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8FAFC"/>
                          </a:solidFill>
                          <a:latin typeface="Calibri"/>
                        </a:rPr>
                        <a:t>Código ejecutable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E293B"/>
                          </a:solidFill>
                          <a:latin typeface="Calibri"/>
                        </a:rPr>
                        <a:t>C (compilado)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E293B"/>
                          </a:solidFill>
                          <a:latin typeface="Calibri"/>
                        </a:rPr>
                        <a:t>programa.c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E293B"/>
                          </a:solidFill>
                          <a:latin typeface="Calibri"/>
                        </a:rPr>
                        <a:t>Interno a la compilación, no se guarda aparte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E293B"/>
                          </a:solidFill>
                          <a:latin typeface="Calibri"/>
                        </a:rPr>
                        <a:t>programa.exe / binario nativo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E293B"/>
                          </a:solidFill>
                          <a:latin typeface="Calibri"/>
                        </a:rPr>
                        <a:t>Java (híbrido)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E293B"/>
                          </a:solidFill>
                          <a:latin typeface="Calibri"/>
                        </a:rPr>
                        <a:t>Programa.java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E293B"/>
                          </a:solidFill>
                          <a:latin typeface="Calibri"/>
                        </a:rPr>
                        <a:t>Programa.class (bytecode)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E293B"/>
                          </a:solidFill>
                          <a:latin typeface="Calibri"/>
                        </a:rPr>
                        <a:t>No hay ejecutable nativo — lo interpreta la JVM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E293B"/>
                          </a:solidFill>
                          <a:latin typeface="Calibri"/>
                        </a:rPr>
                        <a:t>Python (interpretado)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E293B"/>
                          </a:solidFill>
                          <a:latin typeface="Calibri"/>
                        </a:rPr>
                        <a:t>programa.py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E293B"/>
                          </a:solidFill>
                          <a:latin typeface="Calibri"/>
                        </a:rPr>
                        <a:t>__pycache__/programa.cpython-3XX.pyc (automático)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E293B"/>
                          </a:solidFill>
                          <a:latin typeface="Calibri"/>
                        </a:rPr>
                        <a:t>No se genera — se lee y ejecuta línea a línea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461772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745736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D97706"/>
                </a:solidFill>
                <a:latin typeface="Calibri"/>
              </a:rPr>
              <a:t>⚠️  Un mismo fuente, ejecutables distintos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093208"/>
            <a:ext cx="10789920" cy="173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El mismo código fuente puede necesitar un ejecutable distinto por cada sistema operativo destino.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53212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660136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766E"/>
                </a:solidFill>
                <a:latin typeface="Calibri"/>
              </a:rPr>
              <a:t>💡  Se retoma en el punto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007608"/>
            <a:ext cx="10789920" cy="173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Al clasificar los lenguajes según cómo se ejecutan — es la misma idea vista desde el otro lado.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El mismo esquema, ejecutado de verdad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25 · 3. En la práctica, con comandos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19"/>
            <a:ext cx="11247120" cy="21031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10698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ourier New"/>
              </a:rPr>
              <a:t># C: compilación + enlazado en un solo paso</a:t>
            </a:r>
          </a:p>
          <a:p>
            <a:pPr algn="l"/>
            <a:r>
              <a:rPr sz="1100" b="0" i="0">
                <a:solidFill>
                  <a:srgbClr val="E2E8F0"/>
                </a:solidFill>
                <a:latin typeface="Courier New"/>
              </a:rPr>
              <a:t>$ gcc programa.c -o programa</a:t>
            </a:r>
          </a:p>
          <a:p>
            <a:pPr algn="l"/>
            <a:r>
              <a:rPr sz="1100" b="0" i="0">
                <a:solidFill>
                  <a:srgbClr val="E2E8F0"/>
                </a:solidFill>
                <a:latin typeface="Courier New"/>
              </a:rPr>
              <a:t>$ ./programa</a:t>
            </a:r>
          </a:p>
          <a:p>
            <a:pPr algn="l"/>
            <a:r>
              <a:rPr sz="1100" b="0" i="0">
                <a:solidFill>
                  <a:srgbClr val="E2E8F0"/>
                </a:solidFill>
                <a:latin typeface="Courier New"/>
              </a:rPr>
              <a:t/>
            </a:r>
          </a:p>
          <a:p>
            <a:pPr algn="l"/>
            <a:r>
              <a:rPr sz="1100" b="0" i="0">
                <a:solidFill>
                  <a:srgbClr val="E2E8F0"/>
                </a:solidFill>
                <a:latin typeface="Courier New"/>
              </a:rPr>
              <a:t># Java: compilación a bytecode, ejecución sobre la JVM (punto 4)</a:t>
            </a:r>
          </a:p>
          <a:p>
            <a:pPr algn="l"/>
            <a:r>
              <a:rPr sz="1100" b="0" i="0">
                <a:solidFill>
                  <a:srgbClr val="E2E8F0"/>
                </a:solidFill>
                <a:latin typeface="Courier New"/>
              </a:rPr>
              <a:t>$ javac HolaMundo.java      # genera HolaMundo.class</a:t>
            </a:r>
          </a:p>
          <a:p>
            <a:pPr algn="l"/>
            <a:r>
              <a:rPr sz="1100" b="0" i="0">
                <a:solidFill>
                  <a:srgbClr val="E2E8F0"/>
                </a:solidFill>
                <a:latin typeface="Courier New"/>
              </a:rPr>
              <a:t>$ java HolaMundo            # la JVM interpreta el bytecode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160520"/>
            <a:ext cx="11247120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88536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D97706"/>
                </a:solidFill>
                <a:latin typeface="Calibri"/>
              </a:rPr>
              <a:t>📡  Cambiando activamente: la frontera se difumina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636008"/>
            <a:ext cx="10789920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Motores como V8 (Chrome, Node.js) ya no solo interpretan JavaScript línea a línea: compilan sobre la marcha, mientras el programa corre, las partes de código que más se repiten — compilación JIT (just-in-time). En sentido contrario, GraalVM permite compilar bytecode Java directamente a un ejecutable nativo (native-image), sin necesitar una JVM en el equipo final. La clasificación del punto 5 sigue siendo útil, pero cada vez hay más lenguajes que mezclan las tres estrategias.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D4BF"/>
                </a:solidFill>
                <a:latin typeface="Calibri"/>
              </a:rPr>
              <a:t>AHORA TE TOCA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mbria"/>
              </a:rPr>
              <a:t>Ejercicios prácticos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26 · 3. Ejercicios 8-10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1124712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" y="2029968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299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  <a:latin typeface="Cambria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947672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mbria"/>
              </a:rPr>
              <a:t>De código fuente a ejecutable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331720"/>
            <a:ext cx="102412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Instala un JDK, escribe HolaMundo.java que imprima tu nombre, y compílalo con javac HolaMundo.java. Localiza el .class y ejecútalo con java HolaMundo. Explica qué representa cada fichero/momento.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1124712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8368" y="3538728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53872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  <a:latin typeface="Cambria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456432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mbria"/>
              </a:rPr>
              <a:t>El esquema en distintos lenguajes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840480"/>
            <a:ext cx="102412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Apoyándote en la tabla anterior, explica por qué en Python no tiene sentido hablar de "código ejecutable" como en C, y qué papel juega el .pyc que Python genera automáticamente.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846320"/>
            <a:ext cx="1124712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" y="5047488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047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  <a:latin typeface="Cambria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965192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mbria"/>
              </a:rPr>
              <a:t>Compilado vs. interpretado, cronómetro en mano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349240"/>
            <a:ext cx="102412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Suma los números del 1 al 10 millones en C y en Python. Compila y ejecuta la versión C; ejecuta la versión Python. Cronometra ambas (time). ¿Qué diferencia observas y por qué?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Portabilidad: máquinas virtuales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27 · 4. Máquinas virtuales de sistema y de proceso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19"/>
            <a:ext cx="5349240" cy="19659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093976"/>
            <a:ext cx="48371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  <a:latin typeface="Cambria"/>
              </a:rPr>
              <a:t>🖥  Máquina virtual de sistema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587752"/>
            <a:ext cx="48371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Simula un ordenador completo (arquitectura + SO) dentro de otro. Ejemplos: VirtualBox, VMware.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874519"/>
            <a:ext cx="5349240" cy="19659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2093976"/>
            <a:ext cx="48371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  <a:latin typeface="Cambria"/>
              </a:rPr>
              <a:t>⚙  Máquina virtual de proceso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2587752"/>
            <a:ext cx="48371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Ejecuta el bytecode de un lenguaje, independizándolo del hardware. La más conocida: la JVM (Java).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023360"/>
            <a:ext cx="1124712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151376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766E"/>
                </a:solidFill>
                <a:latin typeface="Calibri"/>
              </a:rPr>
              <a:t>🕰️  Por qué existe la JVM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498848"/>
            <a:ext cx="10789920" cy="1682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A mediados de los 90, cada sistema operativo tenía su propio formato de ejecutable, y distribuir un programa para varias plataformas obligaba a compilarlo y mantenerlo por separado para cada una. Sun Microsystems diseñó Java (1995) con la JVM como pieza central para resolver justo ese problema: compilar una sola vez a bytecode y dejar que la máquina virtual se adapte al sistema real. La necesidad que resolvió sigue vigente — es la misma razón de fondo por la que hoy existen los contenedores y WebAssembly.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De principio a fin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28 · 4. El pipeline completo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20240"/>
            <a:ext cx="11247120" cy="100584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ourier New"/>
              </a:rPr>
              <a:t>Programa.java  --(javac, compilador)--&gt;  Programa.class (bytecode)</a:t>
            </a:r>
          </a:p>
          <a:p>
            <a:pPr algn="l"/>
            <a:r>
              <a:rPr sz="1200" b="0" i="0">
                <a:solidFill>
                  <a:srgbClr val="E2E8F0"/>
                </a:solidFill>
                <a:latin typeface="Courier New"/>
              </a:rPr>
              <a:t>Programa.class --(java, se ejecuta sobre la JVM)--&gt;  el programa corre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Calibri"/>
              </a:rPr>
              <a:t>Por eso el mismo .class corre en Windows, Linux o macOS sin recompilar, siempre que haya una JVM instalada.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931920"/>
            <a:ext cx="11247120" cy="10515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59935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766E"/>
                </a:solidFill>
                <a:latin typeface="Calibri"/>
              </a:rPr>
              <a:t>📡  Sigue vigente: "write once, run anywhere"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407408"/>
            <a:ext cx="10789920" cy="448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El modelo de máquina virtual de proceso no es exclusivo de Java — Python (con su intérprete y bytecode .pyc) y .NET (CLR) funcionan sobre una idea muy similar.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D4BF"/>
                </a:solidFill>
                <a:latin typeface="Calibri"/>
              </a:rPr>
              <a:t>CA 1D · ACTUALIDAD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mbria"/>
              </a:rPr>
              <a:t>Contenedores y WebAssembly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29 · 4. Cambiando activamente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20240"/>
            <a:ext cx="5349240" cy="35661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139696"/>
            <a:ext cx="48371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  <a:latin typeface="Cambria"/>
              </a:rPr>
              <a:t>🐳  Contenedores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633472"/>
            <a:ext cx="4837175" cy="2697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Una VM de sistema emula un ordenador completo con su propio SO — aísla mucho, pero es "pesada". Los contenedores (Docker es el más conocido) comparten el núcleo del SO anfitrión y solo aíslan la app y sus dependencias: más ligeros. Se ven con detalle en unidades de despliegue posteriores.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920240"/>
            <a:ext cx="5349240" cy="35661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2139696"/>
            <a:ext cx="48371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  <a:latin typeface="Cambria"/>
              </a:rPr>
              <a:t>🌐  WebAssembly (Wasm)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2633472"/>
            <a:ext cx="4837175" cy="2697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Evolución reciente de la misma idea de "bytecode portable", pero para el navegador: ejecuta código C, C++, Rust o Java en una página web a velocidad casi nativa, algo que JavaScript solo no ofrece. No lo sustituye — lo complementa donde hace falta rendimiento (edición de imagen/vídeo, videojuegos, cálculo intensivo).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D4BF"/>
                </a:solidFill>
                <a:latin typeface="Calibri"/>
              </a:rPr>
              <a:t>AHORA TE TOCA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mbria"/>
              </a:rPr>
              <a:t>Ejercicio práctico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30 · 4. Ejercicio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77440"/>
            <a:ext cx="11247120" cy="2103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" y="2578608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57860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  <a:latin typeface="Cambria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496312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mbria"/>
              </a:rPr>
              <a:t>JVM, WebAssembly y portabilidad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880360"/>
            <a:ext cx="10241280" cy="1481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Compara la JVM con WebAssembly: busca una definición breve de Wasm y explica en qué se parecen (ambas son máquinas virtuales de proceso que ejecutan bytecode portable) y en qué se diferencian (para qué se usa cada una y dónde se ejecuta). ¿Por qué debería un desarrollador web actual conocer al menos la existencia de WebAssembly?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Según cómo se ejecutan y su nivel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31 · 5. Clasificación: ejecución y nivel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19"/>
            <a:ext cx="3611880" cy="214884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2130552"/>
            <a:ext cx="548640" cy="548640"/>
          </a:xfrm>
          <a:prstGeom prst="ellipse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1305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F766E"/>
                </a:solidFill>
                <a:latin typeface="Calibri"/>
              </a:rPr>
              <a:t>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770632"/>
            <a:ext cx="30998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Cambria"/>
              </a:rPr>
              <a:t>Compilados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154679"/>
            <a:ext cx="3099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Se traducen enteros a un ejecutable. C, C++, C#. Rápidos, más pesados.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874519"/>
            <a:ext cx="3611880" cy="214884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2130552"/>
            <a:ext cx="548640" cy="548640"/>
          </a:xfrm>
          <a:prstGeom prst="ellipse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21305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F766E"/>
                </a:solidFill>
                <a:latin typeface="Calibri"/>
              </a:rPr>
              <a:t>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770632"/>
            <a:ext cx="30998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Cambria"/>
              </a:rPr>
              <a:t>Interpretados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3154679"/>
            <a:ext cx="3099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Se traducen y ejecutan línea a línea. Python, PHP, JavaScript. Más lentos, más ligeros.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874519"/>
            <a:ext cx="3657600" cy="214884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2752" y="2130552"/>
            <a:ext cx="548640" cy="548640"/>
          </a:xfrm>
          <a:prstGeom prst="ellipse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2752" y="21305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F766E"/>
                </a:solidFill>
                <a:latin typeface="Calibri"/>
              </a:rPr>
              <a:t>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770632"/>
            <a:ext cx="314553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Cambria"/>
              </a:rPr>
              <a:t>Híbridos / virtuales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3154679"/>
            <a:ext cx="31455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Se compilan a bytecode, que interpreta una máquina virtual. Java, C#.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457200" y="4251960"/>
          <a:ext cx="11247120" cy="1828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34640"/>
                <a:gridCol w="5669280"/>
                <a:gridCol w="27432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Nivel de abstracción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Característica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Ejemplos</a:t>
                      </a:r>
                    </a:p>
                  </a:txBody>
                  <a:tcPr marL="64008" marR="64008" marT="18288" marB="18288" anchor="ctr"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E293B"/>
                          </a:solidFill>
                          <a:latin typeface="Calibri"/>
                        </a:rPr>
                        <a:t>Bajo nivel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E293B"/>
                          </a:solidFill>
                          <a:latin typeface="Calibri"/>
                        </a:rPr>
                        <a:t>Muy cercano al hardware, acceso directo a registros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E293B"/>
                          </a:solidFill>
                          <a:latin typeface="Calibri"/>
                        </a:rPr>
                        <a:t>Ensamblador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E293B"/>
                          </a:solidFill>
                          <a:latin typeface="Calibri"/>
                        </a:rPr>
                        <a:t>Medio nivel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E293B"/>
                          </a:solidFill>
                          <a:latin typeface="Calibri"/>
                        </a:rPr>
                        <a:t>Accede a memoria y registros con sintaxis más legible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E293B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E293B"/>
                          </a:solidFill>
                          <a:latin typeface="Calibri"/>
                        </a:rPr>
                        <a:t>Alto nivel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E293B"/>
                          </a:solidFill>
                          <a:latin typeface="Calibri"/>
                        </a:rPr>
                        <a:t>Sintaxis cercana al lenguaje humano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E293B"/>
                          </a:solidFill>
                          <a:latin typeface="Calibri"/>
                        </a:rPr>
                        <a:t>Python, Java, PHP</a:t>
                      </a:r>
                    </a:p>
                  </a:txBody>
                  <a:tcPr marL="64008" marR="64008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La forma de plantear la solución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32 · 5. Paradigmas de programación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19"/>
            <a:ext cx="5440680" cy="77724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21792" y="2071115"/>
            <a:ext cx="384048" cy="38404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07111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874519"/>
            <a:ext cx="45720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Imperativo — se describe paso a paso cómo hacer algo (C).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874519"/>
            <a:ext cx="5440680" cy="77724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8231" y="2071115"/>
            <a:ext cx="384048" cy="38404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1" y="207111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1874519"/>
            <a:ext cx="45720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Orientado a objetos — se modela el problema como objetos (Java).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788920"/>
            <a:ext cx="5440680" cy="77724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1792" y="2985515"/>
            <a:ext cx="384048" cy="38404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298551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2788920"/>
            <a:ext cx="45720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Funcional — se compone con funciones, sin estado mutable (Haskell).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788920"/>
            <a:ext cx="5440680" cy="77724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1" y="2985515"/>
            <a:ext cx="384048" cy="38404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98551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788920"/>
            <a:ext cx="45720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Declarativo — se describe qué se quiere obtener, no cómo (SQL).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794760"/>
            <a:ext cx="11247120" cy="9601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22776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766E"/>
                </a:solidFill>
                <a:latin typeface="Calibri"/>
              </a:rPr>
              <a:t>💡  Pocos lenguajes son "puros"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270248"/>
            <a:ext cx="10789920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Python y JavaScript son imperativos/OOP pero incorporan estilo funcional (map, filter); SQL es declarativo pero admite lógica imperativa (PL/SQL, T-SQL). Es habitual combinar paradigmas.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89204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020055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766E"/>
                </a:solidFill>
                <a:latin typeface="Calibri"/>
              </a:rPr>
              <a:t>⇄  Front-end vs. back-end, y el perfil full-stack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367527"/>
            <a:ext cx="1078992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Front-end: la parte visible, en el navegador (HTML, CSS, JavaScript). Back-end: la lógica no visible, en un servidor (Java, Python, PHP, SQL). Quien domina ambas partes es un desarrollador full-stack — uno de los perfiles más demandados hoy.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Imperativo vs. declarativo, en código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33 · 5. Un mismo problema, dos paradigmas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20240"/>
            <a:ext cx="5440680" cy="30175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48920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  <a:latin typeface="Courier New"/>
              </a:rPr>
              <a:t># Imperativo: se describe</a:t>
            </a:r>
          </a:p>
          <a:p>
            <a:pPr algn="l"/>
            <a:r>
              <a:rPr sz="1300" b="0" i="0">
                <a:solidFill>
                  <a:srgbClr val="E2E8F0"/>
                </a:solidFill>
                <a:latin typeface="Courier New"/>
              </a:rPr>
              <a:t># paso a paso el "cómo"</a:t>
            </a:r>
          </a:p>
          <a:p>
            <a:pPr algn="l"/>
            <a:r>
              <a:rPr sz="1300" b="0" i="0">
                <a:solidFill>
                  <a:srgbClr val="E2E8F0"/>
                </a:solidFill>
                <a:latin typeface="Courier New"/>
              </a:rPr>
              <a:t/>
            </a:r>
          </a:p>
          <a:p>
            <a:pPr algn="l"/>
            <a:r>
              <a:rPr sz="1300" b="0" i="0">
                <a:solidFill>
                  <a:srgbClr val="E2E8F0"/>
                </a:solidFill>
                <a:latin typeface="Courier New"/>
              </a:rPr>
              <a:t>pares = []</a:t>
            </a:r>
          </a:p>
          <a:p>
            <a:pPr algn="l"/>
            <a:r>
              <a:rPr sz="1300" b="0" i="0">
                <a:solidFill>
                  <a:srgbClr val="E2E8F0"/>
                </a:solidFill>
                <a:latin typeface="Courier New"/>
              </a:rPr>
              <a:t>for n in numeros:</a:t>
            </a:r>
          </a:p>
          <a:p>
            <a:pPr algn="l"/>
            <a:r>
              <a:rPr sz="1300" b="0" i="0">
                <a:solidFill>
                  <a:srgbClr val="E2E8F0"/>
                </a:solidFill>
                <a:latin typeface="Courier New"/>
              </a:rPr>
              <a:t>    if n % 2 == 0:</a:t>
            </a:r>
          </a:p>
          <a:p>
            <a:pPr algn="l"/>
            <a:r>
              <a:rPr sz="1300" b="0" i="0">
                <a:solidFill>
                  <a:srgbClr val="E2E8F0"/>
                </a:solidFill>
                <a:latin typeface="Courier New"/>
              </a:rPr>
              <a:t>        pares.append(n)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920240"/>
            <a:ext cx="5440680" cy="30175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2103120"/>
            <a:ext cx="48920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  <a:latin typeface="Courier New"/>
              </a:rPr>
              <a:t>-- Declarativo: se describe</a:t>
            </a:r>
          </a:p>
          <a:p>
            <a:pPr algn="l"/>
            <a:r>
              <a:rPr sz="1300" b="0" i="0">
                <a:solidFill>
                  <a:srgbClr val="E2E8F0"/>
                </a:solidFill>
                <a:latin typeface="Courier New"/>
              </a:rPr>
              <a:t>-- el "qué", sin decir cómo</a:t>
            </a:r>
          </a:p>
          <a:p>
            <a:pPr algn="l"/>
            <a:r>
              <a:rPr sz="1300" b="0" i="0">
                <a:solidFill>
                  <a:srgbClr val="E2E8F0"/>
                </a:solidFill>
                <a:latin typeface="Courier New"/>
              </a:rPr>
              <a:t>-- recorrerlo</a:t>
            </a:r>
          </a:p>
          <a:p>
            <a:pPr algn="l"/>
            <a:r>
              <a:rPr sz="1300" b="0" i="0">
                <a:solidFill>
                  <a:srgbClr val="E2E8F0"/>
                </a:solidFill>
                <a:latin typeface="Courier New"/>
              </a:rPr>
              <a:t/>
            </a:r>
          </a:p>
          <a:p>
            <a:pPr algn="l"/>
            <a:r>
              <a:rPr sz="1300" b="0" i="0">
                <a:solidFill>
                  <a:srgbClr val="E2E8F0"/>
                </a:solidFill>
                <a:latin typeface="Courier New"/>
              </a:rPr>
              <a:t>SELECT * FROM numeros</a:t>
            </a:r>
          </a:p>
          <a:p>
            <a:pPr algn="l"/>
            <a:r>
              <a:rPr sz="1300" b="0" i="0">
                <a:solidFill>
                  <a:srgbClr val="E2E8F0"/>
                </a:solidFill>
                <a:latin typeface="Courier New"/>
              </a:rPr>
              <a:t>WHERE n % 2 = 0;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6636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Ambos fragmentos resuelven lo mismo (quedarse con los números pares) — el de la izquierda detalla el proceso paso a paso; el de la derecha solo describe el resultado que se quiere obtener.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D4BF"/>
                </a:solidFill>
                <a:latin typeface="Calibri"/>
              </a:rPr>
              <a:t>CA 1E · ACTUALIDAD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mbria"/>
              </a:rPr>
              <a:t>El ranking de lenguajes cambia con el tiempo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34 · 5. Actualidad y ejercicios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19"/>
            <a:ext cx="11247120" cy="10515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02536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DD4BF"/>
                </a:solidFill>
                <a:latin typeface="Calibri"/>
              </a:rPr>
              <a:t>📡  Actualidad: el índice TIOBE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50008"/>
            <a:ext cx="10789920" cy="448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tiobe.com/tiobe-index es una de las referencias más consultadas para ver qué lenguajes están en auge o en declive — pero es una fotografía mensual, no una verdad fija.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063240"/>
            <a:ext cx="11247120" cy="14173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8368" y="3264408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26440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  <a:latin typeface="Cambria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182112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mbria"/>
              </a:rPr>
              <a:t>Clasifica estos lenguajes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566160"/>
            <a:ext cx="1024128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Para Python, Java, C y JavaScript, indica: tipo de ejecución, nivel de abstracción y paradigma principal. Justifica cada respuesta en una frase.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617720"/>
            <a:ext cx="11247120" cy="14173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8368" y="4818888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8188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  <a:latin typeface="Cambria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736592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mbria"/>
              </a:rPr>
              <a:t>El mismo problema, dos paradigmas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120640"/>
            <a:ext cx="1024128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Para el dashboard de finanzas: plantea "usuarios que han gastado más de 100€ este mes" con pseudocódigo imperativo (bucle + condición) y con una consulta SQL declarativa. Compáralas.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Herramientas que dan soporte a cada fase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35 · 6.1-6.3 Herramientas de desarrollo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19"/>
            <a:ext cx="3611880" cy="214884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2130552"/>
            <a:ext cx="548640" cy="548640"/>
          </a:xfrm>
          <a:prstGeom prst="ellipse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1305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F766E"/>
                </a:solidFill>
                <a:latin typeface="Calibri"/>
              </a:rPr>
              <a:t>6.1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770632"/>
            <a:ext cx="30998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mbria"/>
              </a:rPr>
              <a:t>Editor de código / 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154679"/>
            <a:ext cx="3099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Un IDE añade autocompletado, resaltado de sintaxis, detección de errores y depuración. VS Code, Eclipse, IntelliJ. UP2.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874519"/>
            <a:ext cx="3611880" cy="214884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2130552"/>
            <a:ext cx="548640" cy="548640"/>
          </a:xfrm>
          <a:prstGeom prst="ellipse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21305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F766E"/>
                </a:solidFill>
                <a:latin typeface="Calibri"/>
              </a:rPr>
              <a:t>6.2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770632"/>
            <a:ext cx="30998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mbria"/>
              </a:rPr>
              <a:t>Compilador / intérprete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3154679"/>
            <a:ext cx="3099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Traduce fuente a objeto/ejecutable, o lo ejecuta línea a línea (puntos 3 y 5). javac/java, Python, GCC. UP1-UP2.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874519"/>
            <a:ext cx="3657600" cy="214884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2752" y="2130552"/>
            <a:ext cx="548640" cy="548640"/>
          </a:xfrm>
          <a:prstGeom prst="ellipse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2752" y="21305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F766E"/>
                </a:solidFill>
                <a:latin typeface="Calibri"/>
              </a:rPr>
              <a:t>6.3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770632"/>
            <a:ext cx="314553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mbria"/>
              </a:rPr>
              <a:t>Control de versiones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3154679"/>
            <a:ext cx="31455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Historial de cambios y trabajo en equipo sin sobrescribirse (visto en 2.3). Git, GitHub. UP3.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206240"/>
            <a:ext cx="11247120" cy="9144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3891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ourier New"/>
              </a:rPr>
              <a:t>$ git init</a:t>
            </a:r>
          </a:p>
          <a:p>
            <a:pPr algn="l"/>
            <a:r>
              <a:rPr sz="1200" b="0" i="0">
                <a:solidFill>
                  <a:srgbClr val="E2E8F0"/>
                </a:solidFill>
                <a:latin typeface="Courier New"/>
              </a:rPr>
              <a:t>$ git add cambios.py</a:t>
            </a:r>
          </a:p>
          <a:p>
            <a:pPr algn="l"/>
            <a:r>
              <a:rPr sz="1200" b="0" i="0">
                <a:solidFill>
                  <a:srgbClr val="E2E8F0"/>
                </a:solidFill>
                <a:latin typeface="Courier New"/>
              </a:rPr>
              <a:t>$ git commit -m "Primer commit"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3492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Esta unidad solo clasifica las herramientas; se profundiza en cada una en las UP indicadas.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CA 1F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Cambria"/>
              </a:rPr>
              <a:t>Depuración, dependencias, análisis y documentación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36 · 6.4-6.6 Herramientas de desarrollo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19"/>
            <a:ext cx="3611880" cy="214884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2130552"/>
            <a:ext cx="548640" cy="548640"/>
          </a:xfrm>
          <a:prstGeom prst="ellipse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1305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F766E"/>
                </a:solidFill>
                <a:latin typeface="Calibri"/>
              </a:rPr>
              <a:t>6.4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770632"/>
            <a:ext cx="30998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mbria"/>
              </a:rPr>
              <a:t>Depuración y pruebas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154679"/>
            <a:ext cx="3099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Ejecuta paso a paso y automatiza las comprobaciones del punto 2.4. Depurador del IDE, JUnit. UP5.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874519"/>
            <a:ext cx="3611880" cy="214884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2130552"/>
            <a:ext cx="548640" cy="548640"/>
          </a:xfrm>
          <a:prstGeom prst="ellipse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21305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F766E"/>
                </a:solidFill>
                <a:latin typeface="Calibri"/>
              </a:rPr>
              <a:t>6.5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770632"/>
            <a:ext cx="30998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mbria"/>
              </a:rPr>
              <a:t>Gestión de dependencias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3154679"/>
            <a:ext cx="3099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Instala librerías (punto 1.1) y automatiza compilar, probar y empaquetar. pip, Maven, npm. UP2.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874519"/>
            <a:ext cx="3657600" cy="214884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2752" y="2130552"/>
            <a:ext cx="548640" cy="548640"/>
          </a:xfrm>
          <a:prstGeom prst="ellipse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2752" y="21305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F766E"/>
                </a:solidFill>
                <a:latin typeface="Calibri"/>
              </a:rPr>
              <a:t>6.6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770632"/>
            <a:ext cx="314553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mbria"/>
              </a:rPr>
              <a:t>Análisis y documentación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3154679"/>
            <a:ext cx="31455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Revisa la calidad del código y genera documentación técnica. SonarQube, Javadoc. UP7.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206240"/>
            <a:ext cx="11247120" cy="9144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3891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ourier New"/>
              </a:rPr>
              <a:t>$ pip install matplotlib          # instala una librería</a:t>
            </a:r>
          </a:p>
          <a:p>
            <a:pPr algn="l"/>
            <a:r>
              <a:rPr sz="1200" b="0" i="0">
                <a:solidFill>
                  <a:srgbClr val="E2E8F0"/>
                </a:solidFill>
                <a:latin typeface="Courier New"/>
              </a:rPr>
              <a:t>$ pip freeze &gt; requirements.txt   # registra las dependencias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D4BF"/>
                </a:solidFill>
                <a:latin typeface="Calibri"/>
              </a:rPr>
              <a:t>CA 1F · ACTUALIDAD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mbria"/>
              </a:rPr>
              <a:t>Asistentes de código con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37 · 6. Cambiando activamente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20240"/>
            <a:ext cx="11247120" cy="19659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139696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  <a:latin typeface="Cambria"/>
              </a:rPr>
              <a:t>🤖  Asistentes de código con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633472"/>
            <a:ext cx="107350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Herramientas como GitHub Copilot, o el autocompletado inteligente ya integrado en muchos IDEs, sugieren código apoyándose en modelos de lenguaje. No son una categoría nueva: se integran dentro del editor/IDE (6.1). Cambian cómo se escribe código día a día, pero siguen haciendo falta los mismos fundamentos de esta unidad para revisar y entender lo que sugieren — no para copiarlo sin más.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069080"/>
            <a:ext cx="11247120" cy="18288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288536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  <a:latin typeface="Cambria"/>
              </a:rPr>
              <a:t>💡  Ejemplo integrador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782312"/>
            <a:ext cx="107350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Un dashboard de finanzas en Python con SQLite usaría: VS Code (IDE), Git/GitHub (versiones), pip (librerías de gráficos) y pytest (probar los cálculos) — cada herramienta cubre una función distinta.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D4BF"/>
                </a:solidFill>
                <a:latin typeface="Calibri"/>
              </a:rPr>
              <a:t>AHORA TE TOCA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mbria"/>
              </a:rPr>
              <a:t>Ejercicios prácticos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38 · 6. Ejercicios 14-15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20240"/>
            <a:ext cx="11247120" cy="20116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" y="2121408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2140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  <a:latin typeface="Cambria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mbria"/>
              </a:rPr>
              <a:t>Herramientas para un proyecto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423160"/>
            <a:ext cx="1024128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Para el dashboard de finanzas personales, indica qué herramienta de cada categoría usarías y por qué, aunque hoy no sepas usarlas todavía (búscalo si hace falta).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114800"/>
            <a:ext cx="11247120" cy="20116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8368" y="4315968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3159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  <a:latin typeface="Cambria"/>
              </a:rP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233672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mbria"/>
              </a:rPr>
              <a:t>Instala y prueba una herramienta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617720"/>
            <a:ext cx="1024128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Elige una categoría con una herramienta que no conozcas (un linter, un gestor de dependencias distinto) e instálala. Documenta en 4-5 líneas: qué resuelve, qué comando usaste, y el resultado de ejecutarla una vez.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D4BF"/>
                </a:solidFill>
                <a:latin typeface="Calibri"/>
              </a:rPr>
              <a:t>RETO EVALUABLE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mbria"/>
              </a:rPr>
              <a:t>Analiza una app que uses cada día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39 · Reto de clase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UD01 · Desarrollo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19"/>
            <a:ext cx="11247120" cy="39319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148840"/>
            <a:ext cx="502920" cy="50292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0F172A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103120"/>
            <a:ext cx="9966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Lenguaje: hipótesis razonada sobre qué lenguaje(s) se usaron en su front-end y back-end, con un argumento técnico.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337560"/>
            <a:ext cx="502920" cy="50292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375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0F172A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291840"/>
            <a:ext cx="9966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Ejecutable: ¿el que corre en tu móvil es compilado, interpretado o híbrido? Justifícalo con lo visto sobre máquinas virtuales.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4526280"/>
            <a:ext cx="502920" cy="50292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5262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0F172A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480560"/>
            <a:ext cx="9966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Ciclo de vida: esquema de las 7 fases aplicado a esa app — qué requisitos se recogieron y qué mantenimiento recibe (mira su historial de actualizaciones).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62356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2DD4BF"/>
                </a:solidFill>
                <a:latin typeface="Calibri"/>
              </a:rPr>
              <a:t>Variación evaluable: por parejas, comparando dos apps de la misma categoría para contrastar hipótesis distintas.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457200"/>
            <a:ext cx="502920" cy="50292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Courier New"/>
              </a:rPr>
              <a:t>&lt;/&gt;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389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D4BF"/>
                </a:solidFill>
                <a:latin typeface="Calibri"/>
              </a:rPr>
              <a:t>Resumen de la unidad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0704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CBD5E1"/>
                </a:solidFill>
                <a:latin typeface="Calibri"/>
              </a:rPr>
              <a:t>1. Programa y componentes — forma (programa/librería/aplicación/suite) y función (sistema/aplicación); RAM, CPU y periféricos; programar es solo codificar, desarrollar es más.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CBD5E1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CBD5E1"/>
                </a:solidFill>
                <a:latin typeface="Calibri"/>
              </a:rPr>
              <a:t>2. Ciclo de vida — 7 fases en cascada (análisis a mantenimiento), con roles y documentación propios; hoy la mayoría usa metodologías ágiles (UP6).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CBD5E1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CBD5E1"/>
                </a:solidFill>
                <a:latin typeface="Calibri"/>
              </a:rPr>
              <a:t>3-4. Fuente, objeto, ejecutable y máquinas virtuales — compilación y enlazado; la JVM y otras VM dan portabilidad; hoy la frontera compilado/interpretado se difumina (JIT, GraalVM) y aparecen contenedores y WebAssembly.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CBD5E1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CBD5E1"/>
                </a:solidFill>
                <a:latin typeface="Calibri"/>
              </a:rPr>
              <a:t>5-6. Lenguajes y herramientas — ejecución, nivel y paradigma (un mismo problema, resuelto distinto); front-end/back-end y full-stack; IDE, compilador, Git, pruebas, dependencias y documentación, con comandos reales.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4348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DD4BF"/>
                </a:solidFill>
                <a:latin typeface="Calibri"/>
              </a:rPr>
              <a:t>RA1 · CA 1a-1f cubiertos (CA 1g en la UP6)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892040"/>
            <a:ext cx="10607040" cy="100584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02920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mbria"/>
              </a:rPr>
              <a:t>Para saber más (opcional, no evaluable)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37667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BD5E1"/>
                </a:solidFill>
                <a:latin typeface="Calibri"/>
              </a:rPr>
              <a:t>Índice TIOBE — tiobe.com/tiobe-index   ·   Documentación oficial de la JVM — docs.oracle.com/javase/specs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63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IES Sant Vicent Ferrer — Algemesí · Noel Marco Biendicho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UD01 · Desarrollo de Software</dc:title>
  <dc:subject>EDE · 1r DAW</dc:subject>
  <dc:creator>Noel Marco Biendicho</dc:creator>
  <cp:keywords/>
  <dc:description/>
  <cp:lastModifiedBy>Noel Marco Biendicho</cp:lastModifiedBy>
  <cp:revision>1</cp:revision>
  <dcterms:created xsi:type="dcterms:W3CDTF">2013-01-27T09:14:16Z</dcterms:created>
  <dcterms:modified xsi:type="dcterms:W3CDTF">2013-01-27T09:15:58Z</dcterms:modified>
  <cp:category/>
</cp:coreProperties>
</file>