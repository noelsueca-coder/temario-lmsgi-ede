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0" y="91440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0" b="1" i="0">
                <a:solidFill>
                  <a:srgbClr val="1E293B"/>
                </a:solidFill>
                <a:latin typeface="Courier New"/>
              </a:rPr>
              <a:t>&lt;/&gt;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Calibri"/>
              </a:rPr>
              <a:t>EDE · 1r DAW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64748B"/>
                </a:solidFill>
                <a:latin typeface="Cambria"/>
              </a:rPr>
              <a:t>UD01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686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8FAFC"/>
                </a:solidFill>
                <a:latin typeface="Cambria"/>
              </a:rPr>
              <a:t>Desarrollo de</a:t>
            </a:r>
          </a:p>
          <a:p>
            <a:pPr algn="l"/>
            <a:r>
              <a:rPr sz="4200" b="1" i="0">
                <a:solidFill>
                  <a:srgbClr val="F8FAFC"/>
                </a:solidFill>
                <a:latin typeface="Cambria"/>
              </a:rPr>
              <a:t>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1772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Calibri"/>
              </a:rPr>
              <a:t>RA1 · Reconoce los elementos y herramientas que intervienen en el desarrollo de un programa informático (CA 1a-1f)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IES Sant Vicent Ferrer — Algemesí · Noel Marco Biendicho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AL TERMINAR ESTA UNIDAD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Sabrás hacer 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2 · Conceptos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Desarrollo de 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286000"/>
            <a:ext cx="731520" cy="7315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Cambria"/>
              </a:rPr>
              <a:t>Relacionar programa y 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2880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identificar cómo la memoria, el procesador y los periféricos intervienen cuando un programa se ejecuta.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92024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0" y="2286000"/>
            <a:ext cx="731520" cy="7315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24612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Cambria"/>
              </a:rPr>
              <a:t>Ubicar cada fase del desarrollo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840480"/>
            <a:ext cx="2880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reconocer las fases del ciclo de vida del software y qué documentación genera cada una.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58200" y="2286000"/>
            <a:ext cx="731520" cy="7315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24612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Cambria"/>
              </a:rPr>
              <a:t>Elegir lenguaje y herramientas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840480"/>
            <a:ext cx="2880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clasificar lenguajes de programación y las herramientas de desarrollo según su funcionalidad.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Informática, software y programa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3 · Conceptos básicos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Desarrollo de 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2651760" cy="21031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148839"/>
            <a:ext cx="640080" cy="64008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3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Calibri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6207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mbria"/>
              </a:rPr>
              <a:t>Programa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2103120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Instrucciones con una finalidad concreta, que devuelven un valor o realizan una función.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874519"/>
            <a:ext cx="2651760" cy="21031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0439" y="2148839"/>
            <a:ext cx="640080" cy="64008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39" y="214883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Calibri"/>
              </a:rPr>
              <a:t>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39" y="286207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mbria"/>
              </a:rPr>
              <a:t>Librería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39" y="3291839"/>
            <a:ext cx="2103120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Archivo que empaqueta programas ya escritos, reutilizables desde otro código.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874519"/>
            <a:ext cx="2651760" cy="21031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09359" y="2148839"/>
            <a:ext cx="640080" cy="64008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214883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Calibr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86207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mbria"/>
              </a:rPr>
              <a:t>Aplicación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291839"/>
            <a:ext cx="2103120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Uno o varios programas (con o sin librerías) orientados a una tarea del usuario.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1874519"/>
            <a:ext cx="2880360" cy="21031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98280" y="2148839"/>
            <a:ext cx="640080" cy="64008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214883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Calibri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86207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mbria"/>
              </a:rPr>
              <a:t>Suite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291839"/>
            <a:ext cx="2331720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Varias aplicaciones independientes distribuidas juntas (MS Office, LibreOffice).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052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306824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⚠  El sistema operativo no encaja en una sola categoría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690872"/>
            <a:ext cx="107899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En la práctica, un SO es una suite de programas, librerías y aplicaciones que gestionan el resto del sistema.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495544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💡  Programar ≠ desarrollar software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79592"/>
            <a:ext cx="10789920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Desarrollar incluye analizar, diseñar, probar, documentar y mantener — no solo codificar instrucciones.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El programa y los componentes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4 · Programa y 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Desarrollo de 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10698480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ourier New"/>
              </a:rPr>
              <a:t>PERIFÉRICOS         MEMORIA (RAM)          CPU</a:t>
            </a:r>
          </a:p>
          <a:p>
            <a:pPr algn="l"/>
            <a:r>
              <a:rPr sz="1250" b="0" i="0">
                <a:solidFill>
                  <a:srgbClr val="E2E8F0"/>
                </a:solidFill>
                <a:latin typeface="Courier New"/>
              </a:rPr>
              <a:t>entrada -&gt; teclado   instrucciones + datos   fetch -&gt; decode -&gt; execute</a:t>
            </a:r>
          </a:p>
          <a:p>
            <a:pPr algn="l"/>
            <a:r>
              <a:rPr sz="1250" b="0" i="0">
                <a:solidFill>
                  <a:srgbClr val="E2E8F0"/>
                </a:solidFill>
                <a:latin typeface="Courier New"/>
              </a:rPr>
              <a:t>salida  &lt;- pantalla  del programa en curso   (registros, ALU)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29000"/>
            <a:ext cx="5440680" cy="196596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703320"/>
            <a:ext cx="640080" cy="64008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Calibri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1655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mbria"/>
              </a:rPr>
              <a:t>Memoria (RAM)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489204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Guarda instrucciones y datos mientras el programa se ejecuta. Es volátil: al cerrarlo, se pierde.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29000"/>
            <a:ext cx="5440680" cy="196596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37959" y="3703320"/>
            <a:ext cx="640080" cy="64008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3703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441655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mbria"/>
              </a:rPr>
              <a:t>Procesador (CPU)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846320"/>
            <a:ext cx="489204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Ejecuta el ciclo de instrucción: fetch (busca), decode (interpreta) y execute (realiza), con sus registros.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53212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678424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📡  Periféricos: la vía de entrada y salida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062472"/>
            <a:ext cx="10789920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De entrada (teclado, red) el programa recibe datos; de salida (pantalla, disco) devuelve o persiste resultados.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El ciclo de vida del software: modelo en cascada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5 · Ciclo de vida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Desarrollo de Software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3154680"/>
            <a:ext cx="11430000" cy="0"/>
          </a:xfrm>
          <a:prstGeom prst="line">
            <a:avLst/>
          </a:prstGeom>
          <a:ln w="1905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1604" y="305409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163285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E293B"/>
                </a:solidFill>
                <a:latin typeface="Cambria"/>
              </a:rPr>
              <a:t>1. Análisis</a:t>
            </a:r>
          </a:p>
        </p:txBody>
      </p:sp>
      <p:sp>
        <p:nvSpPr>
          <p:cNvPr id="11" name="Oval 10"/>
          <p:cNvSpPr/>
          <p:nvPr/>
        </p:nvSpPr>
        <p:spPr>
          <a:xfrm>
            <a:off x="2714461" y="305409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98617" y="2468880"/>
            <a:ext cx="163285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E293B"/>
                </a:solidFill>
                <a:latin typeface="Cambria"/>
              </a:rPr>
              <a:t>2. Diseño</a:t>
            </a:r>
          </a:p>
        </p:txBody>
      </p:sp>
      <p:sp>
        <p:nvSpPr>
          <p:cNvPr id="13" name="Oval 12"/>
          <p:cNvSpPr/>
          <p:nvPr/>
        </p:nvSpPr>
        <p:spPr>
          <a:xfrm>
            <a:off x="4347318" y="305409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1474" y="2468880"/>
            <a:ext cx="163285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E293B"/>
                </a:solidFill>
                <a:latin typeface="Cambria"/>
              </a:rPr>
              <a:t>3. Codificación</a:t>
            </a:r>
          </a:p>
        </p:txBody>
      </p:sp>
      <p:sp>
        <p:nvSpPr>
          <p:cNvPr id="15" name="Oval 14"/>
          <p:cNvSpPr/>
          <p:nvPr/>
        </p:nvSpPr>
        <p:spPr>
          <a:xfrm>
            <a:off x="5980176" y="305409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4331" y="2468880"/>
            <a:ext cx="163285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E293B"/>
                </a:solidFill>
                <a:latin typeface="Cambria"/>
              </a:rPr>
              <a:t>4. Pruebas</a:t>
            </a:r>
          </a:p>
        </p:txBody>
      </p:sp>
      <p:sp>
        <p:nvSpPr>
          <p:cNvPr id="17" name="Oval 16"/>
          <p:cNvSpPr/>
          <p:nvPr/>
        </p:nvSpPr>
        <p:spPr>
          <a:xfrm>
            <a:off x="7613033" y="305409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7188" y="2468880"/>
            <a:ext cx="163285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E293B"/>
                </a:solidFill>
                <a:latin typeface="Cambria"/>
              </a:rPr>
              <a:t>5. Documentación</a:t>
            </a:r>
          </a:p>
        </p:txBody>
      </p:sp>
      <p:sp>
        <p:nvSpPr>
          <p:cNvPr id="19" name="Oval 18"/>
          <p:cNvSpPr/>
          <p:nvPr/>
        </p:nvSpPr>
        <p:spPr>
          <a:xfrm>
            <a:off x="9245890" y="305409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0045" y="2468880"/>
            <a:ext cx="163285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E293B"/>
                </a:solidFill>
                <a:latin typeface="Cambria"/>
              </a:rPr>
              <a:t>6. Explotación</a:t>
            </a:r>
          </a:p>
        </p:txBody>
      </p:sp>
      <p:sp>
        <p:nvSpPr>
          <p:cNvPr id="21" name="Oval 20"/>
          <p:cNvSpPr/>
          <p:nvPr/>
        </p:nvSpPr>
        <p:spPr>
          <a:xfrm>
            <a:off x="10878747" y="305409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62902" y="2468880"/>
            <a:ext cx="163285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E293B"/>
                </a:solidFill>
                <a:latin typeface="Cambria"/>
              </a:rPr>
              <a:t>7. Mantenimiento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661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Cada fase se apoya en la anterior y genera su propia documentación (ERS, cuaderno de carga, código comentado, manual de usuario...).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97680"/>
            <a:ext cx="11247120" cy="1920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43984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🕰  No es la única forma de organizarlo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28032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El modelo en cascada es lineal y rígido: si en Pruebas aparece un fallo de diseño, hay que volver atrás. Existen otros modelos (iterativo, incremental, en espiral) y las metodologías ágiles, pensadas para adaptarse mejor al cambio — las veremos en la UP6 (CA 1g).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Qué se genera en cada fase, quién interviene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6 · Documentación y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Desarrollo de Software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874519"/>
          <a:ext cx="11247120" cy="420623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5120640"/>
                <a:gridCol w="3291840"/>
              </a:tblGrid>
              <a:tr h="60089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8FAFC"/>
                          </a:solidFill>
                          <a:latin typeface="Calibri"/>
                        </a:rPr>
                        <a:t>Fase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8FAFC"/>
                          </a:solidFill>
                          <a:latin typeface="Calibri"/>
                        </a:rPr>
                        <a:t>Documentación generada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8FAFC"/>
                          </a:solidFill>
                          <a:latin typeface="Calibri"/>
                        </a:rPr>
                        <a:t>Rol principal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Análisis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ERS, diagrama E/R o de clases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Analista de sistemas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Diseño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Diagramas de casos de uso/secuencia, cuaderno de carga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Diseñador de software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Codificación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Código fuente comentado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Analista programador, Programador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Pruebas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Registro de pruebas de caja blanca/negra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Personal de pruebas (idealmente distinto de quien programó)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Documentación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Manual de usuario final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Arquitecto de software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Explotación / Mantenimiento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Informe de instalación, registro de incidencias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Arquitecto de software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</a:rPr>
              <a:t>ESTO SE AMPLÍA MÁS ADELANTE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Cambria"/>
              </a:rPr>
              <a:t>Cascada hoy, ágil en la UP6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7 · Actualidad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Desarrollo de 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49240" cy="38404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  <a:latin typeface="Cambria"/>
              </a:rPr>
              <a:t>🕰  El modelo en cascada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52928"/>
            <a:ext cx="48006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Lineal: análisis, diseño, codificación, pruebas, documentación, explotación y mantenimiento, en ese orden. Si aparece un problema tarde, hay que volver atrás. Es el modelo de referencia de esta unidad, y sigue usándose cuando los requisitos están muy claros desde el principio.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011680"/>
            <a:ext cx="5349240" cy="38404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  <a:latin typeface="Cambria"/>
              </a:rPr>
              <a:t>📡  Metodologías ágiles (UP6, CA 1g)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52928"/>
            <a:ext cx="48006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Ciclos cortos e iterativos que se adaptan al cambio de requisitos sobre la marcha, en vez de fijarlo todo al principio. No sustituyen las fases vistas aquí — las reorganizan en iteraciones. Lo veremos en detalle en la UP6, junto con roles y escenarios de uso.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Código fuente, objeto y ejecutable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8 · Código fuente y ejecutable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Desarrollo de 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75688"/>
            <a:ext cx="1069848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ourier New"/>
              </a:rPr>
              <a:t>código fuente (.java)  --[compilador]--&gt;  código objeto (.class)  --[+librerías, enlazador]--&gt;  ejecutable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20440"/>
            <a:ext cx="3611880" cy="19202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794760"/>
            <a:ext cx="640080" cy="64008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Calibri"/>
              </a:rPr>
              <a:t>&lt;/&gt;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0799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mbria"/>
              </a:rPr>
              <a:t>Código fuente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Instrucciones escritas por el desarrollador en un fichero de texto (.java, .py, .c).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520440"/>
            <a:ext cx="3611880" cy="19202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6280" y="3794760"/>
            <a:ext cx="640080" cy="64008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794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Calibri"/>
              </a:rPr>
              <a:t>{}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50799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mbria"/>
              </a:rPr>
              <a:t>Código objeto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937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Resultado de compilar el fuente. Código intermedio, todavía no ejecutable directamente (p. ej. .class).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520440"/>
            <a:ext cx="3657600" cy="19202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21040" y="3794760"/>
            <a:ext cx="640080" cy="64008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794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Calibri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50799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mbria"/>
              </a:rPr>
              <a:t>Código ejecutable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937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Objeto + librerías + particularidades del SO destino. Lo interpreta directamente el dispositivo.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53212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678424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⚠  Un mismo fuente, ejecutables distintos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062472"/>
            <a:ext cx="10789920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El mismo código fuente puede necesitar un ejecutable distinto por cada sistema operativo destino.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Código intermedio y máquinas virtuales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9 · Máquinas virtuales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Desarrollo de 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5349240" cy="2331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30552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  <a:latin typeface="Cambria"/>
              </a:rPr>
              <a:t>🖥  Máquina virtual de 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15768"/>
            <a:ext cx="4800600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Simula un ordenador completo (arquitectura + SO) dentro de otro. Ejemplos: VirtualBox, VMware.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74519"/>
            <a:ext cx="5349240" cy="2331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30552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  <a:latin typeface="Cambria"/>
              </a:rPr>
              <a:t>⚙  Máquina virtual de proceso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15768"/>
            <a:ext cx="4800600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Ejecuta el bytecode de un lenguaje, independizándolo del hardware real. La más conocida: la JVM (Java).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3484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581144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📡  Sigue vigente: "write once, run anywhere"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6519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El mismo .class corre en Windows, Linux o macOS sin recompilar, siempre que haya una JVM instalada — Python (.pyc) y .NET (CLR) siguen una idea muy similar.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78424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⇄  Portable vs. no portable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062472"/>
            <a:ext cx="10789920" cy="91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Un ejecutable portable (p. ej. un .jar) corre en varias plataformas; uno no portable está compilado para una en concreto.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Según cómo se ejecutan y su nivel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10 · Clasificación de lenguajes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Desarrollo de 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3611880" cy="21488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148839"/>
            <a:ext cx="640080" cy="64008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3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Calibri"/>
              </a:rPr>
              <a:t>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6207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mbria"/>
              </a:rPr>
              <a:t>Compilados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Se traducen enteros a un ejecutable. C, C++, C#. Rápidos, más pesados.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874519"/>
            <a:ext cx="3611880" cy="21488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2148839"/>
            <a:ext cx="640080" cy="64008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14883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Calibri"/>
              </a:rPr>
              <a:t>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86207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mbria"/>
              </a:rPr>
              <a:t>Interpretados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91839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Se traducen y ejecutan línea a línea. Python, PHP, JavaScript. Más lentos, más ligeros.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874519"/>
            <a:ext cx="3657600" cy="21488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21040" y="2148839"/>
            <a:ext cx="640080" cy="64008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14883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Calibri"/>
              </a:rPr>
              <a:t>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86207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mbria"/>
              </a:rPr>
              <a:t>Híbridos / virtuales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91839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Se compilan a bytecode, que interpreta una máquina virtual. Java, C#.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4251960"/>
          <a:ext cx="1124712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566928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8FAFC"/>
                          </a:solidFill>
                          <a:latin typeface="Calibri"/>
                        </a:rPr>
                        <a:t>Nivel de abstracción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8FAFC"/>
                          </a:solidFill>
                          <a:latin typeface="Calibri"/>
                        </a:rPr>
                        <a:t>Característica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8FAFC"/>
                          </a:solidFill>
                          <a:latin typeface="Calibri"/>
                        </a:rPr>
                        <a:t>Ejemplos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Bajo nivel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Muy cercano al hardware, acceso directo a registros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Ensamblador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Medio nivel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Accede a memoria y registros con sintaxis más legible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Alto nivel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Sintaxis cercana al lenguaje humano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Python, Java, PHP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Paradigmas de programación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11 · Paradigmas y ámbitos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Desarrollo de 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5440680" cy="7772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057399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39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74519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Imperativo — se describe paso a paso cómo hacer algo (C).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5440680" cy="7772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2057399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5739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59" y="1874519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Orientado a objetos — se modela el problema como objetos (Java).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88920"/>
            <a:ext cx="5440680" cy="7772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2971799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7179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788920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Funcional — se compone con funciones, sin estado mutable (Haskell).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88920"/>
            <a:ext cx="5440680" cy="7772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2971799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97179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2788920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Declarativo — se describe qué se quiere obtener, no cómo (SQL).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794760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41064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⇄  Front-end vs. back-end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32511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Front-end: la parte visible, corre en el navegador (HTML, CSS, JavaScript). Back-end: la lógica no visible, corre en un servidor (Java, Python, PHP, SQL).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16636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312664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📡  Actualidad: el índice TIOBE cambia cada 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696712"/>
            <a:ext cx="107899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tiobe.com/tiobe-index es una de las referencias para ver qué lenguajes están en auge — conviene consultarlo actualizado, no memorizar un ranking fijo.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CA 1F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Herramientas del desarrollo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12 · Herramientas de desarrollo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Desarrollo de Software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874519"/>
          <a:ext cx="11247120" cy="420623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3840480"/>
                <a:gridCol w="2834640"/>
                <a:gridCol w="1828800"/>
              </a:tblGrid>
              <a:tr h="60089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8FAFC"/>
                          </a:solidFill>
                          <a:latin typeface="Calibri"/>
                        </a:rPr>
                        <a:t>Categoría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8FAFC"/>
                          </a:solidFill>
                          <a:latin typeface="Calibri"/>
                        </a:rPr>
                        <a:t>Funcionalidad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8FAFC"/>
                          </a:solidFill>
                          <a:latin typeface="Calibri"/>
                        </a:rPr>
                        <a:t>Ejemplos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8FAFC"/>
                          </a:solidFill>
                          <a:latin typeface="Calibri"/>
                        </a:rPr>
                        <a:t>Detalle en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Editor de código / IDE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Escribir, navegar y depurar código con ayuda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VS Code, Eclipse, IntelliJ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UP2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Compilador / intérprete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Traducir o ejecutar el código fuente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javac/java, Python, GCC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UP1-UP2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Control de versiones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Historial de cambios y trabajo en equipo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Git, GitHub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UP3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Depuración y pruebas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Ejecutar paso a paso, automatizar comprobaciones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Debugger, JUnit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UP5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Gestión de dependencias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Instalar librerías y automatizar la construcción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pip, Maven, npm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UP2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Análisis y documentación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Revisar calidad y generar documentación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SonarQube, Javadoc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UP7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</a:rPr>
              <a:t>AHORA TE TOCA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Cambria"/>
              </a:rPr>
              <a:t>Ejercicios prácticos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13 · Práctica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Desarrollo de 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194560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0F172A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mbria"/>
              </a:rPr>
              <a:t>Vocabulario técnico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32888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Corrige una frase mal usando ordenador/programador/librería/suite.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2194560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0F172A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1031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mbria"/>
              </a:rPr>
              <a:t>Memoria, CPU y periféricos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532888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Identifica entrada, salida y paso por RAM en un programa sencillo.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4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749039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490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0F172A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65760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mbria"/>
              </a:rPr>
              <a:t>Fases aplicadas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87368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Aplica las 7 fases del ciclo de vida a una app de gastos personales.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52044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0" y="3749039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7490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0F172A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65760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mbria"/>
              </a:rPr>
              <a:t>De fuente a ejecutable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087368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Compila un HolaMundo.java y localiza fuente, objeto y ejecución.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07492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5303520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303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0F172A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12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mbria"/>
              </a:rPr>
              <a:t>Clasifica lenguajes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641848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Python, Java, C y JavaScript por ejecución, nivel y paradigma.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507492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92240" y="5303520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303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0F172A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5212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mbria"/>
              </a:rPr>
              <a:t>Herramientas de un proyecto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641848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Elige herramienta por categoría para un dashboard de finanzas.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</a:rPr>
              <a:t>RETO DE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Cambria"/>
              </a:rPr>
              <a:t>Analiza una app que uses cada día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14 · Reto evaluable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UD01 · Desarrollo de 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11247120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0F172A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03120"/>
            <a:ext cx="9966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Lenguaje: hipótesis razonada sobre qué lenguaje(s) se usaron en su front-end y back-end, con un argumento técnico.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337560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0F172A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91840"/>
            <a:ext cx="9966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Ejecutable: ¿el que corre en tu móvil es compilado, interpretado o híbrido? Justifícalo con lo visto sobre máquinas virtuales.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526280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262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0F172A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480560"/>
            <a:ext cx="9966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Ciclo de vida: esquema de las 7 fases aplicado a esa app — qué requisitos se recogieron y qué mantenimiento recibe (mira su historial de actualizaciones).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DD4BF"/>
                </a:solidFill>
                <a:latin typeface="Calibri"/>
              </a:rPr>
              <a:t>Variación evaluable: por parejas, comparando dos apps de la misma categoría para contrastar hipótesis distintas.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48640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035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</a:rPr>
              <a:t>Resumen de la unidad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  <a:latin typeface="Cambria"/>
              </a:rPr>
              <a:t>Ya sabes relacionar un programa con el hardware, ubicar las fases del ciclo de vida, y clasificar lenguajes y herramientas de desarrollo.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  <a:latin typeface="Calibri"/>
              </a:rPr>
              <a:t>RA1 · CA 1a-1f cubiertos (CA 1g en la UP6)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07040" cy="2194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8FAFC"/>
                </a:solidFill>
                <a:latin typeface="Cambria"/>
              </a:rPr>
              <a:t>Para saber más (opcional, no evaluable)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Calibri"/>
              </a:rPr>
              <a:t>Índice TIOBE — tiobe.com/tiobe-index</a:t>
            </a:r>
          </a:p>
          <a:p>
            <a:pPr algn="l"/>
            <a:r>
              <a:rPr sz="1350" b="0" i="0">
                <a:solidFill>
                  <a:srgbClr val="CBD5E1"/>
                </a:solidFill>
                <a:latin typeface="Calibri"/>
              </a:rPr>
              <a:t>Documentación oficial de la JVM — docs.oracle.com/javase/specs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IES Sant Vicent Ferrer — Algemesí · Noel Marco Biendicho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UD01 · Desarrollo de Software</dc:title>
  <dc:subject>EDE · 1r DAW</dc:subject>
  <dc:creator>Noel Marco Biendicho</dc:creator>
  <cp:keywords/>
  <dc:description/>
  <cp:lastModifiedBy>Noel Marco Biendicho</cp:lastModifiedBy>
  <cp:revision>1</cp:revision>
  <dcterms:created xsi:type="dcterms:W3CDTF">2013-01-27T09:14:16Z</dcterms:created>
  <dcterms:modified xsi:type="dcterms:W3CDTF">2013-01-27T09:15:58Z</dcterms:modified>
  <cp:category/>
</cp:coreProperties>
</file>